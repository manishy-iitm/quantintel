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4572000" cy="365760"/>
          </a:xfrm>
          <a:prstGeom prst="roundRect">
            <a:avLst/>
          </a:prstGeom>
          <a:solidFill>
            <a:srgbClr val="002328"/>
          </a:solidFill>
          <a:ln w="1524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⚡ QUANTINTEL EXECUTIVE MASTER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Arial"/>
              </a:defRPr>
            </a:pPr>
            <a:r>
              <a:t>QuantIntel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C4CC"/>
                </a:solidFill>
                <a:latin typeface="Arial"/>
              </a:defRPr>
            </a:pPr>
            <a:r>
              <a:t>Autonomous Quantitative Research Collective &amp; Sovereign Market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9D1D9"/>
                </a:solidFill>
                <a:latin typeface="Calibri"/>
              </a:defRPr>
            </a:pPr>
            <a:r>
              <a:t>Connecting live web research, institutional market data, 14-category sovereign news classification, 2,000-path Monte Carlo fan forecasting, and Campbell-Lo-MacKinlay event studies into one unified intelligence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2560320" cy="173736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C4CC"/>
                </a:solidFill>
                <a:latin typeface="Arial"/>
              </a:defRPr>
            </a:pPr>
            <a:r>
              <a:t>🌍 COUNTRY INTELLIGENCE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14+ Sovereign Markets &amp; PSX/NSE</a:t>
            </a:r>
            <a:br/>
            <a:r>
              <a:t>14-Category AI News &amp; Sector Heatmaps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3977639"/>
            <a:ext cx="2560320" cy="173736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A84FF"/>
                </a:solidFill>
                <a:latin typeface="Arial"/>
              </a:defRPr>
            </a:pPr>
            <a:r>
              <a:t>📊 LSE DATA 3.0 PROVIDER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Real-Time Stock Feeds &amp; OHLCV</a:t>
            </a:r>
            <a:br/>
            <a:r>
              <a:t>Options Chain Tape with Greeks &amp; IV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77639"/>
            <a:ext cx="2560320" cy="173736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  <a:latin typeface="Arial"/>
              </a:defRPr>
            </a:pPr>
            <a:r>
              <a:t>🔮 FUTURESTOCK 8-AGENT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Autonomous Research Collective</a:t>
            </a:r>
            <a:br/>
            <a:r>
              <a:t>2,000-Path Monte Carlo &amp; 3-Stage DCF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3977639"/>
            <a:ext cx="2560320" cy="173736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FBE5C"/>
                </a:solidFill>
                <a:latin typeface="Arial"/>
              </a:defRPr>
            </a:pPr>
            <a:r>
              <a:t>📈 WEB QUANT STUDIO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Campbell-Lo-MacKinlay (1997) Studies</a:t>
            </a:r>
            <a:br/>
            <a:r>
              <a:t>Market Model OLS &amp; Abnormal Return 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B949E"/>
                </a:solidFill>
                <a:latin typeface="Calibri"/>
              </a:defRPr>
            </a:pPr>
            <a:r>
              <a:t>Lead Architect: Manish Yadav  |  Scaler School of Technology  •  Track: AI Autonomous Agents &amp; Quantitative FinTech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01 • MARKET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The Quantitative Research Chasm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Quantitative researchers spend 70%+ of their time gathering and manually verifying messy web disclosures.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F4444"/>
                </a:solidFill>
                <a:latin typeface="Calibri"/>
              </a:defRPr>
            </a:pPr>
            <a:r>
              <a:t>01 • FRAGMENTED LIVE WEB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Alpha Hidden in Dynamic Silos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Modern Web is Dynamic: Critical sovereign announcements hide in central bank gazettes, SEC EDGAR tables, BSE/NSE dockets, and PSX circulars.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Scrapers Break Instantly: Standard scrapers get blocked by Cloudflare and perimeter firewalls, starving quant models of live alpha.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Knowledge Cutoff Limits: Static LLM training weights have zero knowledge of today's monetary policy rate hikes or corporate disclosures.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02 • THE HALLUCINATION TRAP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Catastrophic Look-Ahead Bias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Misattributed Timestamps: Generic AI frequently invents announcement dates, mistaking filing updates for primary press releases.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The Look-Ahead Trap: Utilizing information even 1 trading day before public revelation completely invalidates backtests.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Lack of Verifiable Provenance: Standard LLM chat outputs offer zero click-through links to audited primary filings.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03 • THE WEB-TO-MATH GAP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Manual &amp; Disjointed Pipelines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Text vs Math Disconnect: Reading news is qualitative and messy; calculating abnormal returns (CAR) is strictly quantitative.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Slow Time-to-Validation: Formulating statistical null hypotheses (H0 vs H1) and running OLS manually takes hours—by then, alpha decays.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Lack of Standardization: Discretionary teams fail to communicate structured hypotheses to algorithmic desks.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THE QUANTINTEL OPPORTUNITY: Replace brittle manual research with an autonomous multi-agent collective that crawls, computes, and verifies in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02 • ARCHITECTURAL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Unified Multi-Pillar Intelligence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QuantIntel integrates live web discovery, institutional market data, sovereign intelligence, and econometric rigor.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603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PILLAR 1: TINYFISH WEB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Autonomous Live Web Recon</a:t>
            </a:r>
          </a:p>
          <a:p>
            <a:pPr>
              <a:defRPr sz="900">
                <a:solidFill>
                  <a:srgbClr val="8B949E"/>
                </a:solidFill>
                <a:latin typeface="Calibri"/>
              </a:defRPr>
            </a:pPr>
            <a:r>
              <a:t>Headless Chromium Agent Fleet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Crawls breaking corporate filings, central bank dockets, and financial news.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Renders JavaScript SPAs and dynamic tables effortlessly.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Strips DOM clutter down to Markdown with 88.5% token reduction.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A84FF"/>
                </a:solidFill>
                <a:latin typeface="Calibri"/>
              </a:defRPr>
            </a:pPr>
            <a:r>
              <a:t>PILLAR 2: LSE DATA 3.0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Institutional Market Data</a:t>
            </a:r>
          </a:p>
          <a:p>
            <a:pPr>
              <a:defRPr sz="900">
                <a:solidFill>
                  <a:srgbClr val="8B949E"/>
                </a:solidFill>
                <a:latin typeface="Calibri"/>
              </a:defRPr>
            </a:pPr>
            <a:r>
              <a:t>Official Package Provider Integration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Live prices, historical OHLCV, and global market indices.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Real-time Options Chain: Strike, IV, and Greeks (Delta, Gamma, Vega).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Fixed Income Macro Series: 10-Yr Treasury yields, Fed Funds, CPI.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0B981"/>
                </a:solidFill>
                <a:latin typeface="Calibri"/>
              </a:defRPr>
            </a:pPr>
            <a:r>
              <a:t>PILLAR 3: COUNTRY INTEL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Sovereign-Level Discovery</a:t>
            </a:r>
          </a:p>
          <a:p>
            <a:pPr>
              <a:defRPr sz="900">
                <a:solidFill>
                  <a:srgbClr val="8B949E"/>
                </a:solidFill>
                <a:latin typeface="Calibri"/>
              </a:defRPr>
            </a:pPr>
            <a:r>
              <a:t>14+ Economies &amp; Sector Impact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14-Category AI News Classification: Central Bank, Policy, GDP, Trade.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Dynamic Sector Heatmaps &amp; exposure matrices across key industries.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Defensible Stocks to Watch &amp; 3 forward scenarios (Bull/Base/Bear).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737360"/>
            <a:ext cx="25603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E5C"/>
                </a:solidFill>
                <a:latin typeface="Calibri"/>
              </a:defRPr>
            </a:pPr>
            <a:r>
              <a:t>PILLAR 4: QUANT CORE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Econometric &amp; Valuation Lab</a:t>
            </a:r>
          </a:p>
          <a:p>
            <a:pPr>
              <a:defRPr sz="900">
                <a:solidFill>
                  <a:srgbClr val="8B949E"/>
                </a:solidFill>
                <a:latin typeface="Calibri"/>
              </a:defRPr>
            </a:pPr>
            <a:r>
              <a:t>Deterministic Math &amp; Event Studies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Campbell-Lo-MacKinlay (1997) Event Studies with Patell/BMP t-tests.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2,000-Path Monte Carlo Geometric Brownian Motion fan forecasts.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• 3-Stage DCF Valuation with WACC and historical analog matching.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Calibri"/>
              </a:defRPr>
            </a:pPr>
            <a:r>
              <a:t>FOUNDATIONAL PRINCIPLE: TinyFish gathers unstructured web disclosures; LSE Data streams structured prices; Python computes the math.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03 • SOVEREIGN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Country Intelligence: Live Macro &amp; Sector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Investigate sovereign economies, central bank policy, industry sectors, and publicly traded stocks right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14-CATEGORY AI CLASSIFIER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Structured Macro Synthesis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Strict News Taxonomies: Classifies every disclosure across 14 categories (Central Bank, Fiscal Policy, Inflation, Earnings, IPOs, M&amp;A, Energy, Trade Tariffs).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Defensible Sentiment Grading: Categorizes each event as POSITIVE, NEGATIVE, MIXED, NEUTRAL, or UNCONFIRMED.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Multi-Tier Reasoning: Assesses potential impact on national GDP, sovereign benchmark index, industry sector, and exposed equities.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DYNAMIC SECTOR HEATMAP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Real-Time Industry Exposure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Sovereign Industry Mapping: Tracks Banking, Energy, Tech, Cement, Fertilizers, Auto, and Pharmaceuticals.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Net Sentiment Scoring: Aggregates positive, negative, and mixed catalysts with quantitative confidence metrics.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Constituent Exposure: Pinpoints specific publicly traded beneficiaries and vulnerable high-debt companies.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STOCKS TO WATCH &amp; SCENARIOS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Actionable Market Discovery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Catalyst Mapping: Discovers equities with verified empirical exposure to breaking government/central bank catalysts.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3 Forward Scenarios: Generates Bullish, Neutral, and Bearish macroeconomic paths with explicit probabilities (e.g. 45% / 35% / 20%).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Invalidation Rules: Sets concrete economic conditions that would invalidate each forward forecast.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SOVEREIGN VALUE: Allows institutional investors to evaluate macro inflection points and sector capital rotation in real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04 • SEARCH ENGINE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FutureStock Search Engine &amp; Fuzzy Country Resolver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Upgraded Country Intelligence to match FutureStock's search engine with typo tolerance and instant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DUAL SEARCH ENGINE BAR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Universal Query &amp; Country Form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FutureStock-Grade Experience: Unified typeahead input bar with live debounced suggestions, sovereign region selector, and Analyze action button.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Keyboard &amp; Click Navigation: Pressing Enter or clicking any suggestion triggers instant live country scan.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Trending Economies Bar: Direct one-click quick pills for Pakistan, India, US, UK, China, Japan, Germany, and Saudi Arabia.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FUZZY TYPO &amp; PHRASE TOLERANCE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'pakisant future in stock' -&gt; Pakistan (PK)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Filler Word Stripping: Automatically removes natural language phrases like 'future in stock', 'stock market', 'forecast', and 'shares'.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Typo Resilience: Resolves 'pakisant' -&gt; Pakistan, 'bharat' -&gt; India, 'deutschland' -&gt; Germany, 'ksa' -&gt; Saudi Arabia.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Ticker &amp; Exchange Matching: Resolves '^KSE' / 'PSX' / 'Karachi' -&gt; Pakistan, '^NSEI' / 'Nifty' -&gt; India, '^GSPC' / 'S&amp;P' -&gt; 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8-AGENT DYNAMIC COLLECTIVE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Real-Time Execution Pipeline Banner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8-Agent Visual Collective: Monitors Country Resolver, TinyFish Fleet, Central Bank, Index Feeds, 14-Category AI, Sector Heatmap, Stocks &amp; LSE, and Scenarios.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Activity Feedback: Animates during active web crawling and turns green with audited metrics on completion.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Token Savings Telemetry: Displays real-time DOM token reduction (86.5% - 88.5%) and total web sources audited.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E5C"/>
                </a:solidFill>
                <a:latin typeface="Calibri"/>
              </a:defRPr>
            </a:pPr>
            <a:r>
              <a:t>USER EXPERIENCE: Eliminates frustrating 404s and empty searches by resolving natural language and misspelled queries instantly.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05 • CORE PLATFORM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FutureStock: 8-Agent Research Collective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Eight specialized autonomous agents collaborate sequentially and in parallel to build an audited equity dossier.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Arial"/>
              </a:defRPr>
            </a:pPr>
            <a:r>
              <a:t>Agent A: Orchestrator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Parses user query, resolves tickers across NSE/BSE/NASDAQ, and coordinates execution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Arial"/>
              </a:defRPr>
            </a:pPr>
            <a:r>
              <a:t>Agent B: TinyFish Web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Crawls SEC EDGAR, BSE dockets &amp; news. Strips DOM boilerplate down to Markdown with 88% token savings.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Agent C: Financials Core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Audits balance sheet, income statement, revenue YoY growth, gross/operating margins, and FCF.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Agent D: Quant Lab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Simulates 2,000 Geometric Brownian Motion (GBM) paths. Computes volatility, 95% VaR, and CVaR.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Arial"/>
              </a:defRPr>
            </a:pPr>
            <a:r>
              <a:t>Agent E: Valuation DCF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Builds 3-Stage DCF model under varying WACC assumptions alongside EV/EBITDA and P/E multiples.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Arial"/>
              </a:defRPr>
            </a:pPr>
            <a:r>
              <a:t>Agent F: Peer Analogs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Maps historical peer cohorts and post-IPO trajectories, guarding strictly against survivorship bias.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Agent G: Adversarial Bear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Powered by Gemini 3.5 Flash: challenges consensus, models macro shocks, and sets invalidation triggers.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A78BFA"/>
                </a:solidFill>
                <a:latin typeface="Arial"/>
              </a:defRPr>
            </a:pPr>
            <a:r>
              <a:t>Agent H: Verifier Audit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Audits mathematical consistency: ((Target / Spot) - 1) * 100, verifying timestamps and provenance.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COLLABORATIVE VALUE: Replaces biased single-prompt LLM outputs with an audited, adversarial consensus backed by statistical math.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06 • MARKET DATA PROVIDER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LSE Data 3.0: Institutional Market Data &amp; Options Tape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Integrated londonstrategicedge/lse-data package into QuantIntel's unified financial data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A84FF"/>
                </a:solidFill>
                <a:latin typeface="Calibri"/>
              </a:defRPr>
            </a:pPr>
            <a:r>
              <a:t>REAL-TIME PRICING &amp; OHLCV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Institutional Execution Feeds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Spot Quotes &amp; History: Fetches latest bid/ask spot prices, historical OHLCV bar series, and volume.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Multi-Asset Coverage: Equities, ETFs, futures, forex pairs, and major global market benchmark indices.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Clean Provider Abstraction: Implemented via LSEMarketDataProvider and UnifiedMarketDataService with strict data freshness reporting.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OPTIONS CHAIN &amp; GREEKS TAPE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Real-Time Volatility Surface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Options Tape: Interactive modal displaying strike prices, expiration dates, and bid/ask spreads.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Implied Volatility (IV): Calculates real-time implied volatility across call and put strikes.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Option Greeks: Streams Delta (directional sensitivity), Gamma, Theta (time decay), and Vega for risk management.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MACRO SERIES &amp; FIXED INCOME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Benchmark Sovereign Indicators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Treasury Yields: Streams US 10-Year Treasury Yields for risk-free rate calibration in DCF models.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Monetary Policy Benchmarks: Pulls Fed Funds effective rate and CPI inflation data.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TinyFish + LSE Synergy: TinyFish discovers web catalysts; LSE Data provides structured market pricing &amp; options.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A8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A84FF"/>
                </a:solidFill>
                <a:latin typeface="Calibri"/>
              </a:defRPr>
            </a:pPr>
            <a:r>
              <a:t>DATA SYNERGY: Combines unstructured web research from TinyFish with institutional structured quotes and options from LSE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07 • ECONOMETRIC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Web Quant Studio: Academic Event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Testing qualitative corporate disclosures and market announcements against real live OHLCV price series.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01 • MARKET MODEL OLS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R_it = alpha_i + beta_i * R_mt + eps_it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Estimation Window (T0 to T1): Typically 90 to 250 trading days prior to event.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OLS Regression: Estimates equity alpha and systematic beta against market benchmark (^NSEI or ^GSPC).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Deterministic Math: Computed via NumPy and SciPy; zero LLM hallucination.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02 • ABNORMAL RETURNS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AR_it = R_it - (alpha + beta * R_mt)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Event Window (T1 to T2): e.g., [-5, +10] days around disclosure date (tau = 0).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Isolates Idiosyncratic Impact: Strips out broader market tide to prove event-driven alpha.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Cumulative Abnormal Return (CAR): Sums daily abnormal returns across multi-day event window.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03 • STATISTICAL TESTS</a:t>
            </a:r>
          </a:p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Patell Standardized &amp; BMP t-Tests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Patell Test: Standardizes abnormal returns by forecast standard error.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BMP Test: Adjusts for event-induced variance changes across cohorts.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p-Value Rigor: Null hypothesis (H0: CAR = 0) rejected only at p &lt; 0.05 threshold.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Calibri"/>
              </a:defRPr>
            </a:pPr>
            <a:r>
              <a:t>ACADEMIC RIGOR: Built on Campbell, Lo, and MacKinlay (1997) standards—the gold standard of institutional quantitative finance.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08 • WEB AGENT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TinyFish Reconnaissance &amp; Token Economy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Transforming bloated 300KB+ raw HTML investor portals into clean, structured, low-token Markdown briefs.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F4444"/>
                </a:solidFill>
                <a:latin typeface="Calibri"/>
              </a:defRPr>
            </a:pPr>
            <a:r>
              <a:t>THE SCRAPING PROBLEM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Raw HTML Waste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Bloated Boilerplate: Modern corporate websites ship 300KB to 2MB of CSS, SVG sprites, tracking pixels, and ads.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Token Exhaustion: Ingesting raw HTML directly into LLMs consumes 50,000 to 100,000 tokens per page.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Extreme API Costs: Uncleaned HTML burns dollar budgets and dilutes the model's analytical attention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TINYFISH DOM PURIFIER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Smart Cleaning Architecture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Headless Chromium Fleet: Renders client-side dynamic JavaScript and extracts pure semantic document nodes.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Heuristic Content Scoring: Strips navigation menus, footer disclosures, cookie consent popups, and scripts.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Structure Preservation: Extracts financial tables, balance sheet line items, and executive quotes into clean Markdown.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88.5% TOKEN SAVINGS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Measurable Economic Impact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88.5% Compression: Compresses an 85,000-token HTML page down to ~1,200 verified semantic tokens.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Sub-Second Latency: Accelerates inference turnaround by 7x while preserving 100% of factual financial numbers.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Zero Hallucination: Downstream reasoning agents see only high-signal text grounded in verified primary URLs.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Calibri"/>
              </a:defRPr>
            </a:pPr>
            <a:r>
              <a:t>SCALER BENCHMARK: TinyFish slashes token spend by 88.5%, making continuous real-time market crawling economically viable.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09 • GLOBAL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Global Sovereign Markets &amp; Benchmark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QuantIntel covers 14+ major global economies with localized exchanges, currencies, and trading calendars.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🇵🇰 Pakistan (PSX)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KSE-100 (^KSE)</a:t>
            </a:r>
            <a:br/>
            <a:r>
              <a:t>Currency: PKR (₨)</a:t>
            </a:r>
            <a:br/>
            <a:r>
              <a:t>Key Sectors: Oil &amp; Gas, Banking, Cement, Fertilizers</a:t>
            </a:r>
            <a:br/>
            <a:r>
              <a:t>Anchors: OGDC.KA, MCB.KA, LUCK.KA, ENGRO.KA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Arial"/>
              </a:defRPr>
            </a:pPr>
            <a:r>
              <a:t>🇮🇳 India (NSE / BSE)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Nifty 50 (^NSEI)</a:t>
            </a:r>
            <a:br/>
            <a:r>
              <a:t>Currency: INR (₹)</a:t>
            </a:r>
            <a:br/>
            <a:r>
              <a:t>Key Sectors: IT, Banking, Energy, Auto, Pharma</a:t>
            </a:r>
            <a:br/>
            <a:r>
              <a:t>Anchors: RELIANCE.NS, TCS.NS, HDFCBANK.NS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A84FF"/>
                </a:solidFill>
                <a:latin typeface="Arial"/>
              </a:defRPr>
            </a:pPr>
            <a:r>
              <a:t>🇺🇸 United States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S&amp;P 500 (^GSPC)</a:t>
            </a:r>
            <a:br/>
            <a:r>
              <a:t>Currency: USD ($)</a:t>
            </a:r>
            <a:br/>
            <a:r>
              <a:t>Key Sectors: AI/Semis, Cloud, Banking, Healthcare</a:t>
            </a:r>
            <a:br/>
            <a:r>
              <a:t>Anchors: NVDA, MSFT, AAPL, JPM, GOOGL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Arial"/>
              </a:defRPr>
            </a:pPr>
            <a:r>
              <a:t>🇬🇧 United Kingdom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FTSE 100 (^FTSE)</a:t>
            </a:r>
            <a:br/>
            <a:r>
              <a:t>Currency: GBP (£)</a:t>
            </a:r>
            <a:br/>
            <a:r>
              <a:t>Key Sectors: Energy, Pharma, Banking, Mining</a:t>
            </a:r>
            <a:br/>
            <a:r>
              <a:t>Anchors: SHEL.L, AZN.L, HSBA.L, BP.L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🇸🇦 Saudi Arabia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TASI (^TASI.SR)</a:t>
            </a:r>
            <a:br/>
            <a:r>
              <a:t>Currency: SAR (﷼)</a:t>
            </a:r>
            <a:br/>
            <a:r>
              <a:t>Key Sectors: Oil &amp; Gas, Islamic Banking, Petrochem</a:t>
            </a:r>
            <a:br/>
            <a:r>
              <a:t>Anchors: 2222.SR (Aramco), 1120.SR (Al Rajhi)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A78BFA"/>
                </a:solidFill>
                <a:latin typeface="Arial"/>
              </a:defRPr>
            </a:pPr>
            <a:r>
              <a:t>🇯🇵 Japan (TSE)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Nikkei 225 (^N225)</a:t>
            </a:r>
            <a:br/>
            <a:r>
              <a:t>Currency: JPY (¥)</a:t>
            </a:r>
            <a:br/>
            <a:r>
              <a:t>Key Sectors: Automotive, Robotics, Electronics</a:t>
            </a:r>
            <a:br/>
            <a:r>
              <a:t>Anchors: 7203.T (Toyota), 8035.T (Tokyo Electron)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🇩🇪 Germany (XETRA)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DAX 40 (^GDAXI)</a:t>
            </a:r>
            <a:br/>
            <a:r>
              <a:t>Currency: EUR (€)</a:t>
            </a:r>
            <a:br/>
            <a:r>
              <a:t>Key Sectors: Auto Engineering, Industrial Siemens, SAP</a:t>
            </a:r>
            <a:br/>
            <a:r>
              <a:t>Anchors: SAP.DE, SIE.DE, BMW.DE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🇨🇳 China (SSE/SZSE)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Benchmark: Shanghai (000001.SS)</a:t>
            </a:r>
            <a:br/>
            <a:r>
              <a:t>Currency: CNY (¥)</a:t>
            </a:r>
            <a:br/>
            <a:r>
              <a:t>Key Sectors: EV/Batteries, E-Commerce, Solar</a:t>
            </a:r>
            <a:br/>
            <a:r>
              <a:t>Anchors: BABA, Tencent, BYD, State Banks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GLOBAL COVERAGE: Also supports Canada (TSX), Australia (ASX), Singapore (SGX), Brazil (B3), South Korea (KRX), and UAE (ADX).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10 • CONCRETE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End-to-End Alpha Research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Tracing a live equity or sovereign query from search input to verified institutional dossier.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C4CC"/>
                </a:solidFill>
                <a:latin typeface="Arial"/>
              </a:defRPr>
            </a:pPr>
            <a:r>
              <a:t>STAGE 1: SEARCH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Entity &amp; Country Input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User enters ticker, sovereign query, or natural language (e.g. 'pakisant future in stock').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C4CC"/>
                </a:solidFill>
                <a:latin typeface="Arial"/>
              </a:defRPr>
            </a:pPr>
            <a:r>
              <a:t>STAGE 2: RESOLUTION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Fuzzy Auto-Routing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Fuzzy resolver detects sovereign jurisdiction (PSX/NSE/NASDAQ), benchmarks, and currency.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A84FF"/>
                </a:solidFill>
                <a:latin typeface="Arial"/>
              </a:defRPr>
            </a:pPr>
            <a:r>
              <a:t>STAGE 3: WEB CRAWL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TinyFish Recon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Chromium fleet crawls primary regulatory filings and news, stripping DOM clutter (-88.5%).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7373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A84FF"/>
                </a:solidFill>
                <a:latin typeface="Arial"/>
              </a:defRPr>
            </a:pPr>
            <a:r>
              <a:t>STAGE 4: MARKET FEEDS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LSE Data 3.0 Pull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Pulls real-time spot price, historical OHLCV, market index levels, and Options Chain with Greeks.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  <a:latin typeface="Arial"/>
              </a:defRPr>
            </a:pPr>
            <a:r>
              <a:t>STAGE 5: QUANT SIM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Monte Carlo &amp; DCF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Executes 2,000-path GBM simulations and 3-stage DCF valuation with deterministic math.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EF4444"/>
                </a:solidFill>
                <a:latin typeface="Arial"/>
              </a:defRPr>
            </a:pPr>
            <a:r>
              <a:t>STAGE 6: ADVERSARIAL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Bearish Stress-Test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Adversarial agent red-teams assumptions, testing downside risks, inflation, and rate shocks.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A78BFA"/>
                </a:solidFill>
                <a:latin typeface="Arial"/>
              </a:defRPr>
            </a:pPr>
            <a:r>
              <a:t>STAGE 7: VERIFICATION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Provenance Audit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Verifier checks 100% of mathematical formulas and links claims to audited source URLs.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794760"/>
            <a:ext cx="2560320" cy="192024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FBE5C"/>
                </a:solidFill>
                <a:latin typeface="Arial"/>
              </a:defRPr>
            </a:pPr>
            <a:r>
              <a:t>STAGE 8: DELIVERY</a:t>
            </a:r>
          </a:p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Interactive Dossier</a:t>
            </a:r>
          </a:p>
          <a:p>
            <a:pPr>
              <a:defRPr sz="900">
                <a:solidFill>
                  <a:srgbClr val="C9D1D9"/>
                </a:solidFill>
                <a:latin typeface="Calibri"/>
              </a:defRPr>
            </a:pPr>
            <a:r>
              <a:t>Dashboard renders fan charts, options tape, and offers instant export to PDF and Markdown.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SEAMLESS PIPELINE: Eliminates days of disjointed analysis, delivering verified institutional dossiers in seconds.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11 • 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Empirical Validation Across Global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QuantIntel has been battle-tested against real live market data across major international equities.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CASE 1: NVIDIA (NVDA)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Hyperscale AI Hardware Cycle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Trigger: Hyperscale data center capex surge &amp; Blackwell GPU architecture rollout.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Feeds: Spot $204.64 | Monte Carlo median path: $255.40 (+24.8% upside).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LSE Options: Real-time IV smile and Greeks tape confirming heavy call open interest.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Adversarial: Modeled export restriction risks and semiconductor fab capacity bottlenecks.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CASE 2: RELIANCE (RELIANCE.NS)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Conglomerate Expansion &amp; Capex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Trigger: Telecom ARPU expansion announcement &amp; green hydrogen gigafactory progress.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Feeds: Spot ₹1,348.60 (split-adjusted) | CLM Event Study CAR: +3.8% (p &lt; 0.01).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Valuation: 3-Stage DCF under 11.2% WACC yielding fair value upside corridor.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Provenance: All claims tied to audited BSE/NSE regulatory dockets and filings.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CASE 3: PAKISTAN OIL (OGDC.KA)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Sovereign Debt Settlement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Trigger: Economic Coordination Committee gas circular debt clearance resolution.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Live Feeds: KSE-100 benchmark surge to 88,000+ index level on PSX.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Country Intel: Categorized as POSITIVE for Energy sector &amp; domestic liquidity.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CLM Study: Abnormal return of +4.2% around ministerial gazette notification.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Calibri"/>
              </a:defRPr>
            </a:pPr>
            <a:r>
              <a:t>EMPIRICAL REALITY: Tested on real equities across Indian, US, UK, and Pakistani exchanges with 100% verified math.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12 • TECH STACK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Dual-Surface Product Architecture &amp;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Next.js 16 Web Terminal + Python FastAPI Backend + Streamlit Cockpit with 27/27 green automated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WEB TERMINAL SURFACE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Next.js 16 &amp; Turbopack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Next.js 16 App Router: Real-time server components, route handlers, and streaming UI.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Tailwind CSS Dark Theme: High-density Obsidian cyber-quant aesthetic (#070B10).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Recharts &amp; Lucide: Interactive Monte Carlo fan charts, sector impact heatmaps, and options tape.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0 Compilation Errors: 100% clean TypeScript build with strict data contracts.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QUANT ENGINE BACKEND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Python 3.14 &amp; Numerical Stack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FastAPI &amp; Pydantic v2: Strict schema validation across all agent inputs, quotes, and research dossiers.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NumPy &amp; SciPy Econometrics: Deterministic OLS regressions, CAR accumulation, and statistical tests.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LSE Data 3.0 &amp; yfinance: Direct integration of official market data providers with caching defense.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27/27 Tests Green: Comprehensive pytest suite covering all modules end-to-end.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A78BFA"/>
                </a:solidFill>
                <a:latin typeface="Calibri"/>
              </a:defRPr>
            </a:pPr>
            <a:r>
              <a:t>MULTI-MODEL LLM ENGINE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Swappable Intelligence Core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Model Provider Agnostic: Native support for Google Gemini 3.5, Anthropic Claude, OpenAI GPT-4o, and Groq.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Dynamic API Keys Manager: Browser localStorage encryption with live connectivity tester.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Deterministic Local Fallback: Runs calibrated quantitative models even in full offline air-gapped environments.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Zero Vendor Lock-In: Clean provider interfaces allow instant switching of LLM reasoning 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PRODUCTION GRADE: Modern microservice architecture engineered for high throughput, test coverage, and modularity.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13 • GOVERNANCE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Responsible AI &amp; Anti-Hallucination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Institutional-grade rigor and ethical safeguards embedded into every layer of QuantIntel.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DETERMINISTIC BOUNDARIES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Code Calculates, AI Synthesizes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Strict Separation of Concerns: LLMs are strictly forbidden from guessing numerical prices, CAR percentages, or VaR metrics.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Zero-Hallucination Math: All equations execute in deterministic Python/TypeScript code and are validated before rendering.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Mathematical Sanity Checks: Target prices must mathematically reconcile with spot prices: ((Target/Spot)-1)*100.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BE5C"/>
                </a:solidFill>
                <a:latin typeface="Calibri"/>
              </a:defRPr>
            </a:pPr>
            <a:r>
              <a:t>CITATION PROVENANCE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100% Source Traceability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Mandatory Citation Links: Every synthesized catalyst and news disclosure displays original source domain and clickable URL.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Dual Timestamp Auditing: Displays both original article publication time and TinyFish retrieval timestamp.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Unconfirmed Rumor Shield: Rumors, leaks, and speculation are prominently tagged with UNCONFIRMED warning badges.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A78BFA"/>
                </a:solidFill>
                <a:latin typeface="Calibri"/>
              </a:defRPr>
            </a:pPr>
            <a:r>
              <a:t>COMPLIANCE &amp; GOVERNANCE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Institutional Operational Guardrails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Ethical Web Scraping: TinyFish respects robots.txt, source rate limits, and terms of service across all domains.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Clear Disclaimers: Prominently identifies research assessments as empirical academic analysis, not guaranteed financial advice.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Audited Forecast Ledger: Appends all simulated predictions to an immutable historical ledger for forward calibration.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A78BFA"/>
                </a:solidFill>
                <a:latin typeface="Calibri"/>
              </a:defRPr>
            </a:pPr>
            <a:r>
              <a:t>GOVERNANCE STANDARD: Built for institutional compliance departments where provenance and auditability are non-negotiable.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0"/>
          </a:solidFill>
          <a:ln>
            <a:solidFill>
              <a:srgbClr val="070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320040"/>
          </a:xfrm>
          <a:prstGeom prst="roundRect">
            <a:avLst/>
          </a:prstGeom>
          <a:solidFill>
            <a:srgbClr val="00282D"/>
          </a:solidFill>
          <a:ln w="12700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C4CC"/>
                </a:solidFill>
                <a:latin typeface="Calibri"/>
              </a:defRPr>
            </a:pPr>
            <a:r>
              <a:t>14 • SCALER VISION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8B949E"/>
                </a:solidFill>
                <a:latin typeface="Calibri"/>
              </a:defRPr>
            </a:pPr>
            <a: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Commercialization Trajectory &amp; Scaling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8B949E"/>
                </a:solidFill>
                <a:latin typeface="Calibri"/>
              </a:defRPr>
            </a:pPr>
            <a:r>
              <a:t>From autonomous prototype to enterprise-grade quantitative intelligence collective.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CC"/>
                </a:solidFill>
                <a:latin typeface="Calibri"/>
              </a:defRPr>
            </a:pPr>
            <a:r>
              <a:t>PHASE 1: LIVE (COMPLETED)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Core Multi-Pillar Engine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FutureStock 8-Agent Collective with 2,000-path Monte Carlo &amp; DCF.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Web Quant Studio CLM (1997) event studies on live market prices.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Country Intelligence with 14+ economies &amp; 14-category AI news engine.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LSE Data 3.0 provider integration with real-time Options Chain &amp; Greeks.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FutureStock-grade search engine with fuzzy country &amp; typo tolerance.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PHASE 2: NEAR-TERM (Q1-Q2)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Multi-Asset &amp; Institutional Feeds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Fixed Income &amp; Credit: Modeling sovereign yield curve shifts and credit spreads.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Earnings Call Audio Analysis: Real-time speech-to-text sentiment tone detection.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WebSocket Price Streaming: Real-time sub-second price tape updates via LSE Data.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Multi-Stock Cohort Studies: Run multi-company event studies across entire sectors simultaneously.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74720" cy="4114800"/>
          </a:xfrm>
          <a:prstGeom prst="roundRect">
            <a:avLst/>
          </a:prstGeom>
          <a:solidFill>
            <a:srgbClr val="0E1520"/>
          </a:solidFill>
          <a:ln w="12700">
            <a:solidFill>
              <a:srgbClr val="1E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A78BFA"/>
                </a:solidFill>
                <a:latin typeface="Calibri"/>
              </a:defRPr>
            </a:pPr>
            <a:r>
              <a:t>PHASE 3: ENTERPRISE (Q3-Q4)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B2B FinTech Platform &amp; API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QuantIntel Headless API: Institutional SDK for hedge funds and family offices.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Automated Portfolio Rebalancing: Connecting alpha signals to execution venues.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Enterprise SSO &amp; Compliance: Granular audit logs and SOC 2 / HIPAA compliance.</a:t>
            </a:r>
          </a:p>
          <a:p>
            <a:pPr>
              <a:defRPr sz="950">
                <a:solidFill>
                  <a:srgbClr val="C9D1D9"/>
                </a:solidFill>
                <a:latin typeface="Calibri"/>
              </a:defRPr>
            </a:pPr>
            <a:r>
              <a:t>• Custom LLM Fine-Tuning: Domain-specialized financial reasoning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89320"/>
            <a:ext cx="10789920" cy="502920"/>
          </a:xfrm>
          <a:prstGeom prst="roundRect">
            <a:avLst/>
          </a:prstGeom>
          <a:solidFill>
            <a:srgbClr val="0F1926"/>
          </a:solidFill>
          <a:ln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0C4CC"/>
                </a:solidFill>
                <a:latin typeface="Calibri"/>
              </a:defRPr>
            </a:pPr>
            <a:r>
              <a:t>FINAL THOUGHT: QuantIntel bridges the chasm between messy live web disclosures, rigid institutional market data, and mathematical alpha.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