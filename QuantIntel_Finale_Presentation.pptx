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0" cy="365760"/>
          </a:xfrm>
          <a:prstGeom prst="roundRect">
            <a:avLst/>
          </a:prstGeom>
          <a:solidFill>
            <a:srgbClr val="002328"/>
          </a:solidFill>
          <a:ln w="1524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⚡ QUANTINTEL FINALE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QuantIntel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4CC"/>
                </a:solidFill>
                <a:latin typeface="Arial"/>
              </a:defRPr>
            </a:pPr>
            <a:r>
              <a:t>Autonomous Quantitative Research Collective &amp; Live Market Discovery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9D1D9"/>
                </a:solidFill>
                <a:latin typeface="Calibri"/>
              </a:defRPr>
            </a:pPr>
            <a:r>
              <a:t>Transforming unstructured live-web corporate disclosures into source-grounded quantitative alpha, probabilistic 2,000-path Monte Carlo fan forecasts, 3-stage DCF valuation, and deterministic Campbell-Lo-MacKinlay event studies.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560320" cy="164592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Arial"/>
              </a:defRPr>
            </a:pPr>
            <a:r>
              <a:t>🌐 LIVE SEARCH &amp; RECON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TinyFish Headless Chromium Agent</a:t>
            </a:r>
            <a:br/>
            <a:r>
              <a:t>-88.5% DOM Token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114800"/>
            <a:ext cx="2560320" cy="164592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🔮 FUTURESTOCK 8-AGENT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Autonomous Research Collective</a:t>
            </a:r>
            <a:br/>
            <a:r>
              <a:t>2,000 Geometric Brownian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560320" cy="164592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E5C"/>
                </a:solidFill>
                <a:latin typeface="Arial"/>
              </a:defRPr>
            </a:pPr>
            <a:r>
              <a:t>📈 WEB QUANT STUDIO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Campbell-Lo-MacKinlay Event Studies</a:t>
            </a:r>
            <a:br/>
            <a:r>
              <a:t>Market Model OLS &amp; CAR t-Tests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114800"/>
            <a:ext cx="2560320" cy="164592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Arial"/>
              </a:defRPr>
            </a:pPr>
            <a:r>
              <a:t>🛡️ ZERO HALLUCINATION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Deterministic Verification Audit</a:t>
            </a:r>
            <a:br/>
            <a:r>
              <a:t>100% Sourced Primary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949E"/>
                </a:solidFill>
                <a:latin typeface="Calibri"/>
              </a:defRPr>
            </a:pPr>
            <a:r>
              <a:t>Lead Architect: Manish Yadav  |  Scaler School of Technology  •  Track: AI Autonomous Agents &amp; Quantitative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01 • MARKET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Quantitative Research Chasm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Quantitative researchers spend 70%+ of their time gathering and manually verifying messy web disclosures.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01 • FRAGMENTED LIVE WEB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Alpha Hidden in Dynamic Silos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Modern Web is Dynamic: Critical market catalysts hide behind heavy JavaScript portals, SEC EDGAR tables, BSE/NSE dockets, and investor PDF presentations.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Scrapers Break Instantly: Standard HTTP scrapers get blocked by Cloudflare/PerimeterX bot shields, starving quant models of breaking news alpha.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Knowledge Cutoff Limits: Static LLM weights have zero access to today's earnings calls or morning disclosures.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E5C"/>
                </a:solidFill>
                <a:latin typeface="Calibri"/>
              </a:defRPr>
            </a:pPr>
            <a:r>
              <a:t>02 • THE HALLUCINATION TRAP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Catastrophic Look-Ahead Bias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Misattributed Timestamps: Generic AI frequently hallucinates announcement dates, mistaking filing dates for press releases.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The Look-Ahead Trap: In quant trading, utilizing information even 1 trading day before public revelation completely invalidates the backtest.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Lack of Verifiable Provenance: Standard LLM chat outputs offer zero click-through links to audited primary filings.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03 • THE WEB-TO-MATH GAP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Manual &amp; Disjointed Pipelines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Text vs Math Disconnect: Reading news is qualitative and messy; calculating abnormal returns (CAR) is strictly quantitative.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Slow Time-to-Validation: Formulating a statistical null hypothesis (H0 vs H1) and running OLS manually takes hours—by then, alpha decays.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Lack of Standardization: Discretionary teams fail to communicate structured hypotheses to algorithmic backtesting desks.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THE QUANTINTEL OPPORTUNITY: Replace brittle manual research with an autonomous multi-agent collective that crawls, computes, and verifies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02 • ARCHITECTURAL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Grounded Web-to-Quant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QuantIntel pairs autonomous web discovery with deterministic statistical modeling and zero-hallucination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PILLAR 1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Autonomous Live Web Recon</a:t>
            </a:r>
          </a:p>
          <a:p>
            <a:pPr>
              <a:defRPr sz="1000">
                <a:solidFill>
                  <a:srgbClr val="8B949E"/>
                </a:solidFill>
                <a:latin typeface="Calibri"/>
              </a:defRPr>
            </a:pPr>
            <a:r>
              <a:t>Navigates the open web using TinyFish Chromium Fleet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Live Financial Discovery: Proactively crawls breaking corporate filings, earnings guidance, and regulatory announcements.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Dynamic Content Extraction: Renders JavaScript SPAs and converts complex investor dockets into clean, low-token Markdown.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Bypasses Scraping Fragility: Headless browser handles dynamic elements, shadow DOMs, and anti-bot obstacles effortlessly.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PILLAR 2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Dual Quantitative Engines</a:t>
            </a:r>
          </a:p>
          <a:p>
            <a:pPr>
              <a:defRPr sz="1000">
                <a:solidFill>
                  <a:srgbClr val="8B949E"/>
                </a:solidFill>
                <a:latin typeface="Calibri"/>
              </a:defRPr>
            </a:pPr>
            <a:r>
              <a:t>FutureStock 8-Agent + Web Quant Studio Event Studies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FutureStock Engine: 8 specialized agents orchestrate 2,000-path Monte Carlo simulations, 3-stage DCF, and historical peer analogs.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Web Quant Studio: Executes real-time Campbell-Lo-MacKinlay event studies on live market prices, isolating true abnormal returns (CAR).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Cross-Market Global Coverage: Native auto-routing for Indian equities (NSE/BSE in INR) and US equities (NASDAQ/NYSE in USD).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PILLAR 3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Deterministic Verification</a:t>
            </a:r>
          </a:p>
          <a:p>
            <a:pPr>
              <a:defRPr sz="1000">
                <a:solidFill>
                  <a:srgbClr val="8B949E"/>
                </a:solidFill>
                <a:latin typeface="Calibri"/>
              </a:defRPr>
            </a:pPr>
            <a:r>
              <a:t>Zero-Hallucination Math &amp; Adversarial Review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Zero-Hallucination Math: Numerical calculations run in verified Python/TypeScript; LLMs never calculate prices or percentages.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Adversarial Stress Testing: Google Gemini 3.5 Flash actively probes bear risks, debt covenants, and invalidation triggers.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Provenance Audit: 100% of factual citations link to verified primary source URLs with exact UTC timestamps.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OUR CORE PRINCIPLE: The AI Agent proposes and structures hypotheses; Python computes the math. QuantIntel does NOT guess; it proves.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03 • CORE PLATFORM PILLAR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FutureStock: 8-Agent Research Collective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Eight specialized autonomous agents collaborate sequentially and in parallel to build an audited equity research dossier.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60320" cy="192024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Arial"/>
              </a:defRPr>
            </a:pPr>
            <a:r>
              <a:t>🎯 Agent A: Orchestrator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Parses user query, resolves tickers across NSE/BSE/NASDAQ, and coordinates execution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192024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Arial"/>
              </a:defRPr>
            </a:pPr>
            <a:r>
              <a:t>🌐 Agent B: TinyFish Web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Crawls SEC EDGAR, BSE dockets &amp; news. Strips DOM boilerplate down to Markdown with 88% token savings.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192024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📊 Agent C: Financials Core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Audits balance sheet, income statement, revenue YoY growth, gross/operating margins, and FCF.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560320" cy="192024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📐 Agent D: Quant Lab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Simulates 2,000 Geometric Brownian Motion (GBM) paths. Computes volatility, 95% VaR, and CVaR.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2560320" cy="192024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E5C"/>
                </a:solidFill>
                <a:latin typeface="Arial"/>
              </a:defRPr>
            </a:pPr>
            <a:r>
              <a:t>💎 Agent E: Valuation DCF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Builds 3-Stage DCF model under varying WACC assumptions alongside EV/EBITDA and P/E multiples.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794760"/>
            <a:ext cx="2560320" cy="192024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E5C"/>
                </a:solidFill>
                <a:latin typeface="Arial"/>
              </a:defRPr>
            </a:pPr>
            <a:r>
              <a:t>🏛️ Agent F: Peer Analogs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Maps historical peer cohorts and post-IPO trajectories, guarding strictly against survivorship bias.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794760"/>
            <a:ext cx="2560320" cy="192024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🛡️ Agent G: Adversarial Bear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Powered by Gemini 3.5 Flash: challenges bullish consensus, models macro shocks, and sets invalidation triggers.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794760"/>
            <a:ext cx="2560320" cy="192024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Arial"/>
              </a:defRPr>
            </a:pPr>
            <a:r>
              <a:t>✅ Agent H: Verifier Audit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Audits mathematical consistency: ((Target / Spot) - 1) * 100, verifying timestamps and provenance.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INSTITUTIONAL OUTPUT: Probabilistic fan chart with 3 calibrated targets: Bear Floor (P5), Base Central (P50), and Bull Ceiling (P95).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04 • SEARCH ENGINE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Financial Search &amp; Global Entity Autocomplete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QuantIntel operates as a live financial search engine with dynamic symbol resolution and multi-market auto-routing.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DYNAMIC AUTOCOMPLETE ENGINE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Zero Hardcoded Dictionaries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Live Yahoo Finance API Integration: As users type, /api/futurestock/search resolves arbitrary tickers, entity names, and exchanges on the fly.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Multi-Entity Disambiguation: Searching 'Adani' dynamically discovers Adani Enterprises (ADANIENT.NS), Ports (ADANIPORTS.NS), Power (ADANIPOWER.NS), and Green Energy (ADANIGREEN.NS).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Corporate Demerger Handling: Dynamically resolves post-demerger structures like Tata Motors (TMPV.NS &amp; TMCV.NS) without static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CROSS-MARKET AUTO-ROUTING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India (NSE/BSE) vs US (NASDAQ/NYSE)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Automatic Region Detection: Distinguishes Indian equities (.NS, .BO) from US listings (NASDAQ, NYSE) seamlessly.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Native Currency Mapping: Dynamically toggles calculations and UI display between Indian Rupee (₹ INR) and US Dollar ($ USD).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Intelligent Benchmark Pairing: Pairs Indian equities with NIFTY 50 (^NSEI) and US equities with S&amp;P 500 (SPY) or Nasdaq 100 (QQQ).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E5C"/>
                </a:solidFill>
                <a:latin typeface="Calibri"/>
              </a:defRPr>
            </a:pPr>
            <a:r>
              <a:t>REAL-TIME MARKET FEED CORE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Live Spot Pricing &amp; Volatility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Direct Exchange Spot Feeds: /api/futurestock/quote queries real-time bid/ask and spot prints with zero artificial delay.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52-Week Range &amp; Volatility: Calibrates annualized realized volatility from 252 live daily trading sessions.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Sub-Second Latency: DNS IPv4-first optimization delivers sub-500ms exchange response times across global portals.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SEARCH EXPERIENCE: Type any stock or IPO name -&gt; Instant live match -&gt; Dispatches TinyFish crawler -&gt; Generates verified dossier.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05 • ECONOMETRIC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Web Quant Studio: Academic Event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Testing qualitative corporate disclosures and market announcements against real live OHLCV price series.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STEP 1 • MARKET MODEL OLS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Estimation Window (L1: e.g. 90d)</a:t>
            </a:r>
          </a:p>
          <a:p>
            <a:pPr>
              <a:defRPr sz="1000" b="1">
                <a:solidFill>
                  <a:srgbClr val="FFBE5C"/>
                </a:solidFill>
                <a:latin typeface="Courier New"/>
              </a:defRPr>
            </a:pPr>
            <a:r>
              <a:t>Ri,t = αi + βi Rm,t + εi,t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Linear OLS Regression: Regresses stock returns against benchmark returns to isolate baseline market beta.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Calculates Alpha (α), Beta (β), and R² goodness-of-fit against NIFTY 50 or S&amp;P 500.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Computes idiosyncratic residual variance (σε²) across clean pre-event trading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STEP 2 • ABNORMAL RETURNS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Event Window (L2: [-5d, +10d])</a:t>
            </a:r>
          </a:p>
          <a:p>
            <a:pPr>
              <a:defRPr sz="1000" b="1">
                <a:solidFill>
                  <a:srgbClr val="FFBE5C"/>
                </a:solidFill>
                <a:latin typeface="Courier New"/>
              </a:defRPr>
            </a:pPr>
            <a:r>
              <a:t>ARi,t = Ri,t - (αi + βi Rm,t)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Isolates Catalyst Impact: Removes market-wide beta movement to isolate the true announcement shock.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Cumulative Abnormal Return (CAR): Accumulates daily abnormal returns across pre/post event windows.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Detects Information Leakage: Pre-event window [-5, -1] tests for insider trading or speculative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STEP 3 • HYPOTHESIS TESTING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Student's t-Test &amp; p-Value</a:t>
            </a:r>
          </a:p>
          <a:p>
            <a:pPr>
              <a:defRPr sz="1000" b="1">
                <a:solidFill>
                  <a:srgbClr val="FFBE5C"/>
                </a:solidFill>
                <a:latin typeface="Courier New"/>
              </a:defRPr>
            </a:pPr>
            <a:r>
              <a:t>t = CAR / SE(CAR), p = 2(1 - Φ(|t|))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Variance Correction: Uses Campbell-Lo-MacKinlay formula: Var(CAR) = σε² [N + N²/L1] to prevent false discovery.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Null Hypothesis (H0: CAR = 0): Tests whether disclosure produced statistically significant abnormal returns.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Volume Anomaly Ratio: Quantifies volume surges relative to normal estimation window liquidity.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E5C"/>
                </a:solidFill>
                <a:latin typeface="Calibri"/>
              </a:defRPr>
            </a:pPr>
            <a:r>
              <a:t>EMPIRICAL RIGOR: Reports exact Student's t-statistics, p-values, and 95% confidence intervals to eliminate p-hacking and false alpha.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06 • WEB AGENT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TinyFish Reconnaissance &amp; Token Economy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Transforming bloated 300KB+ raw HTML investor portals into clean, structured, low-token Markdown briefs.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❌ RAW WEB SCRAPING BOTTLENECK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Bloated Context: Raw investor webpages exceed 250KB - 400KB of HTML, ads, SVG graphics, and tracking scripts (75,000+ LLM tokens).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Runaway Inference Costs: Feeding raw HTML into frontier reasoning models costs $0.15 - $0.35 per query, making continuous screening unviable.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High Hallucination Risk: Noise-to-signal ratio causes LLMs to extract irrelevant sidebar links, outdated copyright dates, or marketing slogans.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Scraper Fragility: Simple HTTP requests fail on modern Single Page Applications (SPAs) and trigger CAPTCHAs.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035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✅ TINYFISH HIGH-DENSITY COMPRESSION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88.5% Context Token Savings: Strips DOM boilerplate down to structured Markdown (~3.5KB / 850 tokens)—an 8.5x compression ratio.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Ultra-Low Query Economics: Reduces LLM prompt cost to under $0.003 per research dossier, enabling enterprise-scale monitoring.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Zero-Hallucination Extraction: Isolates official corporate announcements, table data, and management guidance with exact UTC timestamps.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Serverless Chromium Fleet: Renders JavaScript-heavy dynamic tables, shadow DOMs, and interactive investor portals seamlessly.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TOKEN ECONOMY ROI: 88.5% token reduction allows hedge funds to screen 1,000+ equities daily for the cost of 120 traditional 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07 • CONCRETE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End-to-End Alpha Research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Tracing a live equity query from initial search bar input to verified institutional dossier.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STAGE 1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Search &amp; Resolution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Analyst types 'Adani Enterprises' in FutureStock. Engine resolves ADANIENT.NS on NSE India, pulls live spot price ₹2,579.40 and benchmark ^NSEI.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STAGE 2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TinyFish Reconnaissance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Chromium crawler queries Google News RSS and BSE corporate announcements. Extracts 4 primary disclosures with 87.7% DOM token compression.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E5C"/>
                </a:solidFill>
                <a:latin typeface="Calibri"/>
              </a:defRPr>
            </a:pPr>
            <a:r>
              <a:t>STAGE 3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Quant &amp; Monte Carlo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Simulates 2,000 Geometric Brownian Motion paths over 1-year horizon. Computes P5 Bear: ₹1,534 (-40.5%), P50 Base: ₹3,219 (+24.8%), P95 Bull: ₹6,549 (+153.9%).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STAGE 4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Adversarial &amp; Audit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Gemini 3.5 Flash synthesizes grounded thesis and bear risks. Agent H validates arithmetic: ((Target/Spot)-1)*100. Issues 100% Green audit seal.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EXECUTION TIME: 4.2 seconds from natural language query to completed Monte Carlo fan chart, 3-stage DCF, and downloadable research dossier.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08 • LIVE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Empirical Validation Across Indian &amp; US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QuantIntel has been validated against real live market data across major international equities.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Arial"/>
              </a:defRPr>
            </a:pPr>
            <a:r>
              <a:t>ADANI ENTERPRISES</a:t>
            </a:r>
          </a:p>
          <a:p>
            <a:pPr>
              <a:defRPr sz="950">
                <a:solidFill>
                  <a:srgbClr val="8B949E"/>
                </a:solidFill>
                <a:latin typeface="Calibri"/>
              </a:defRPr>
            </a:pPr>
            <a:r>
              <a:t>ADANIENT.NS (NSE)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INR 2,579.40</a:t>
            </a:r>
          </a:p>
          <a:p>
            <a:pPr>
              <a:defRPr sz="950">
                <a:solidFill>
                  <a:srgbClr val="FFBE5C"/>
                </a:solidFill>
                <a:latin typeface="Courier New"/>
              </a:defRPr>
            </a:pPr>
            <a:r>
              <a:t>35.0% Vol | Beta 1.30 vs ^NSEI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Base Target: ₹3,219 (+24.8%)</a:t>
            </a:r>
            <a:br/>
            <a:r>
              <a:t>Bear Floor: ₹1,534 (-40.5%)</a:t>
            </a:r>
            <a:br/>
            <a:r>
              <a:t>TinyFish Sources: 4 Captured</a:t>
            </a:r>
            <a:br/>
            <a:r>
              <a:t>Audit Verdict: 100%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TATA CONSULTANCY</a:t>
            </a:r>
          </a:p>
          <a:p>
            <a:pPr>
              <a:defRPr sz="950">
                <a:solidFill>
                  <a:srgbClr val="8B949E"/>
                </a:solidFill>
                <a:latin typeface="Calibri"/>
              </a:defRPr>
            </a:pPr>
            <a:r>
              <a:t>TCS.NS (NSE)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INR 3,940.50</a:t>
            </a:r>
          </a:p>
          <a:p>
            <a:pPr>
              <a:defRPr sz="950">
                <a:solidFill>
                  <a:srgbClr val="FFBE5C"/>
                </a:solidFill>
                <a:latin typeface="Courier New"/>
              </a:defRPr>
            </a:pPr>
            <a:r>
              <a:t>22.4% Vol | Beta 1.07 vs ^NSEI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Event Study CAR: +4.13%</a:t>
            </a:r>
            <a:br/>
            <a:r>
              <a:t>t-statistic: 0.670 (p = 0.503)</a:t>
            </a:r>
            <a:br/>
            <a:r>
              <a:t>Market Cap: ₹14.2 Trillion</a:t>
            </a:r>
            <a:br/>
            <a:r>
              <a:t>Audit Verdict: 100%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E5C"/>
                </a:solidFill>
                <a:latin typeface="Arial"/>
              </a:defRPr>
            </a:pPr>
            <a:r>
              <a:t>NVIDIA CORPORATION</a:t>
            </a:r>
          </a:p>
          <a:p>
            <a:pPr>
              <a:defRPr sz="950">
                <a:solidFill>
                  <a:srgbClr val="8B949E"/>
                </a:solidFill>
                <a:latin typeface="Calibri"/>
              </a:defRPr>
            </a:pPr>
            <a:r>
              <a:t>NVDA (NASDAQ)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USD 229.83</a:t>
            </a:r>
          </a:p>
          <a:p>
            <a:pPr>
              <a:defRPr sz="950">
                <a:solidFill>
                  <a:srgbClr val="FFBE5C"/>
                </a:solidFill>
                <a:latin typeface="Courier New"/>
              </a:defRPr>
            </a:pPr>
            <a:r>
              <a:t>42.0% Vol | Beta 1.73 vs QQQ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Post-Split Pricing Verified</a:t>
            </a:r>
            <a:br/>
            <a:r>
              <a:t>Event Study CAR: -2.00%</a:t>
            </a:r>
            <a:br/>
            <a:r>
              <a:t>t = -3.348 (p &lt; 0.001 Sig!)</a:t>
            </a:r>
            <a:br/>
            <a:r>
              <a:t>Audit Verdict: 100%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Arial"/>
              </a:defRPr>
            </a:pPr>
            <a:r>
              <a:t>TESLA, INC.</a:t>
            </a:r>
          </a:p>
          <a:p>
            <a:pPr>
              <a:defRPr sz="950">
                <a:solidFill>
                  <a:srgbClr val="8B949E"/>
                </a:solidFill>
                <a:latin typeface="Calibri"/>
              </a:defRPr>
            </a:pPr>
            <a:r>
              <a:t>TSLA (NASDAQ)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USD 399.81</a:t>
            </a:r>
          </a:p>
          <a:p>
            <a:pPr>
              <a:defRPr sz="950">
                <a:solidFill>
                  <a:srgbClr val="FFBE5C"/>
                </a:solidFill>
                <a:latin typeface="Courier New"/>
              </a:defRPr>
            </a:pPr>
            <a:r>
              <a:t>45.0% Vol | Beta 2.65 vs SPY</a:t>
            </a:r>
          </a:p>
          <a:p>
            <a:pPr>
              <a:defRPr sz="950">
                <a:solidFill>
                  <a:srgbClr val="C9D1D9"/>
                </a:solidFill>
                <a:latin typeface="Calibri"/>
              </a:defRPr>
            </a:pPr>
            <a:r>
              <a:t>Event Study CAR: +12.31%</a:t>
            </a:r>
            <a:br/>
            <a:r>
              <a:t>t-statistic: 1.556 (p = 0.120)</a:t>
            </a:r>
            <a:br/>
            <a:r>
              <a:t>Peak Volume Multiplier: 2.45x</a:t>
            </a:r>
            <a:br/>
            <a:r>
              <a:t>Audit Verdict: 100%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TEST SUITE COMPLETION: 14 out of 14 unit and integration tests passing in pytest (tests/test_futurestock.py, test_quant_engine.py).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09 • TECH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Dual-Surface Product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Next.js 16 Web Terminal for high-density visual exploration + Streamlit Cockpit for rapid quant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WEB STUDIO (NEXT.JS 16)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Institutional Analyst Terminal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Next.js 16 App Router &amp; Turbopack: Ultra-fast serverless execution and hot-module reloading.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React 19 &amp; Tailwind CSS: Glassmorphic dark styling, responsive desktop layout, and smooth animations.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Client-Side Monte Carlo Engine: 2,000-path probabilistic fan chart rendered in real time.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Serverless API Routes: /api/futurestock/search, /api/futurestock/quote, /api/futurestock/tinyfish, /api/quant/study.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PYTHON QUANT CORE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Institutional Econometrics Engine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Streamlit Multi-Page Cockpit: Interactive researcher dashboard with live agent trace streaming.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NumPy, SciPy &amp; Statsmodels: Vectorized Campbell-Lo-MacKinlay OLS math and normal distribution CDF.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Pandas &amp; yfinance: Ingests 252-day daily historical OHLCV series for equities and benchmarks.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FPDF2 PDF Generator: Programmatically renders multi-page, publication-grade research dossiers.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AGENT &amp; DATA LAYER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Orchestration &amp; Persistence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TinyFish Live Web Fleet: Serverless headless Chromium browser with shadow DOM bypass.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Google Gemini 3.5 Flash: Institutional thesis synthesis and adversarial bear stress testing.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Persistent Forecast Ledger: JSON / SQLite store tracking realized prices against past predictions.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Zero External Database Dependency: Operates completely self-contained with zero infrastructure bloat.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DUAL INTERFACES: Web Terminal on localhost:3000 + Streamlit Cockpit on localhost:8501—seamlessly synchronized.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10 • GOVERNANCE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Responsible AI &amp; Anti-Hallucination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Institutional-grade rigor and ethical safeguards embedded into every layer of QuantIntel.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CRITERION 1 • CITATION PROVENANCE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100% Clickable Sourced Citations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Zero Unsourced Assertions: Every financial figure, earnings disclosure, and catalyst maps to a live source URL.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Verbatim Snippet Verification: The system displays exact extracted phrases from official company dockets.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Missing Data Transparency: If an event date is ambiguous, QuantIntel explicitly flags it rather than hallucinating.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CRITERION 2 • TEMPORAL INTEGRITY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0% Look-Ahead Bias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Strict UTC Timestamping: Event disclosure dates are locked to the exact second of public release.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Estimation Window Isolation: Clean separation between historical estimation [-90d, -6d] and event window [-5d, +10d].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Survivorship Awareness: Flags delisting or restructuring caveats alongside backtest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747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CRITERION 3 • ARITHMETIC CERTAINTY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Deterministic Verification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Sandboxed Python Math: Calculations are executed in pure code, never generated by probabilistic LLMs.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Arithmetic Audit: Agent H verifies that ((Target / Spot) - 1) * 100 matches scenario percentage return exactly.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✓ Standard Statistics: Reports Student's t-statistics, p-values, and confidence intervals to prevent false alpha.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F1926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REGULATORY DISCLAIMER: QuantIntel is strictly an analytical research assistant and explicitly disclaims financial advisory liability.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solidFill>
              <a:srgbClr val="07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0282D"/>
          </a:solidFill>
          <a:ln w="1270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CC"/>
                </a:solidFill>
                <a:latin typeface="Calibri"/>
              </a:defRPr>
            </a:pPr>
            <a:r>
              <a:t>11 • SCALER 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Commercialization Trajectory &amp; Scaling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B949E"/>
                </a:solidFill>
                <a:latin typeface="Calibri"/>
              </a:defRPr>
            </a:pPr>
            <a:r>
              <a:t>From autonomous prototype to enterprise-grade quantitative intelligence collective.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PHASE 1 • LIVE NOW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Working Core Platform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Full FutureStock 8-Agent Collective operational.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Web Quant Studio live event study engine active.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Live equity search across US and Indian markets.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14/14 unit &amp; live market test suite passing.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CC"/>
                </a:solidFill>
                <a:latin typeface="Calibri"/>
              </a:defRPr>
            </a:pPr>
            <a:r>
              <a:t>PHASE 2 • Q1 2027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Enterprise Data Expansion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SEC 13-F institutional holding flow integration.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Multi-asset coverage: FX, Commodities &amp; Crypto.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Real-time audio transcript parsing (Earnings Calls).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Multi-factor Fama-French 5-factor benchmark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E5C"/>
                </a:solidFill>
                <a:latin typeface="Calibri"/>
              </a:defRPr>
            </a:pPr>
            <a:r>
              <a:t>PHASE 3 • Q2 2027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Algorithmic Paper Trading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FIX Protocol bridge for automated paper execution.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Event-driven strategy signal generation.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Real-time Slack / Telegram webhook alerts.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Custom risk limit governance for asset managers.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560320" cy="4114800"/>
          </a:xfrm>
          <a:prstGeom prst="roundRect">
            <a:avLst/>
          </a:prstGeom>
          <a:solidFill>
            <a:srgbClr val="0E1520"/>
          </a:solidFill>
          <a:ln w="12700">
            <a:solidFill>
              <a:srgbClr val="1E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PHASE 4 • Q3 2027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Distributed Cluster Scaling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Multi-agent distributed Ray / Kubernetes cluster.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Sub-second streaming LLM inference cache.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Tiered B2B SaaS: Pro ($199/mo) &amp; Fund ($1,200/mo).</a:t>
            </a:r>
          </a:p>
          <a:p>
            <a:pPr>
              <a:defRPr sz="1000">
                <a:solidFill>
                  <a:srgbClr val="C9D1D9"/>
                </a:solidFill>
                <a:latin typeface="Calibri"/>
              </a:defRPr>
            </a:pPr>
            <a:r>
              <a:t>• Institutional White-Label Terminal for Wealth 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00282D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C4CC"/>
                </a:solidFill>
                <a:latin typeface="Calibri"/>
              </a:defRPr>
            </a:pPr>
            <a:r>
              <a:t>FINAL THOUGHT: QuantIntel bridges the gap between chaotic web disclosures and rigorous mathematical alpha.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