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Oval 1"/>
          <p:cNvSpPr/>
          <p:nvPr/>
        </p:nvSpPr>
        <p:spPr>
          <a:xfrm>
            <a:off x="9326880" y="1097280"/>
            <a:ext cx="2011680" cy="2011680"/>
          </a:xfrm>
          <a:prstGeom prst="ellipse">
            <a:avLst/>
          </a:prstGeom>
          <a:solidFill>
            <a:srgbClr val="132A48"/>
          </a:solidFill>
          <a:ln w="19050">
            <a:solidFill>
              <a:srgbClr val="26E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41280" y="2194560"/>
            <a:ext cx="1280160" cy="1280160"/>
          </a:xfrm>
          <a:prstGeom prst="ellipse">
            <a:avLst/>
          </a:prstGeom>
          <a:solidFill>
            <a:srgbClr val="16363F"/>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595360" y="2926080"/>
            <a:ext cx="914400" cy="914400"/>
          </a:xfrm>
          <a:prstGeom prst="ellipse">
            <a:avLst/>
          </a:prstGeom>
          <a:solidFill>
            <a:srgbClr val="352D20"/>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822960"/>
            <a:ext cx="3840480" cy="347472"/>
          </a:xfrm>
          <a:prstGeom prst="roundRect">
            <a:avLst/>
          </a:prstGeom>
          <a:solidFill>
            <a:srgbClr val="162E4E"/>
          </a:solidFill>
          <a:ln>
            <a:noFill/>
          </a:ln>
        </p:spPr>
        <p:style>
          <a:lnRef idx="1">
            <a:schemeClr val="accent1"/>
          </a:lnRef>
          <a:fillRef idx="3">
            <a:schemeClr val="accent1"/>
          </a:fillRef>
          <a:effectRef idx="2">
            <a:schemeClr val="accent1"/>
          </a:effectRef>
          <a:fontRef idx="minor">
            <a:schemeClr val="lt1"/>
          </a:fontRef>
        </p:style>
        <p:txBody>
          <a:bodyPr rtlCol="0" anchor="ctr" wrap="none" lIns="0" tIns="0" rIns="0" bIns="0"/>
          <a:lstStyle/>
          <a:p>
            <a:pPr algn="ctr">
              <a:defRPr sz="1000" b="1">
                <a:solidFill>
                  <a:srgbClr val="26E5E8"/>
                </a:solidFill>
                <a:latin typeface="Aptos"/>
              </a:defRPr>
            </a:pPr>
            <a:r>
              <a:t>SWIM WITH TINYFISH • HACKATHON PROPOSAL</a:t>
            </a:r>
          </a:p>
        </p:txBody>
      </p:sp>
      <p:sp>
        <p:nvSpPr>
          <p:cNvPr id="6" name="TextBox 5"/>
          <p:cNvSpPr txBox="1"/>
          <p:nvPr/>
        </p:nvSpPr>
        <p:spPr>
          <a:xfrm>
            <a:off x="731520" y="1371600"/>
            <a:ext cx="7772400" cy="1097280"/>
          </a:xfrm>
          <a:prstGeom prst="rect">
            <a:avLst/>
          </a:prstGeom>
          <a:noFill/>
        </p:spPr>
        <p:txBody>
          <a:bodyPr wrap="square" lIns="0" tIns="0" rIns="0" bIns="0">
            <a:spAutoFit/>
          </a:bodyPr>
          <a:lstStyle/>
          <a:p>
            <a:pPr>
              <a:defRPr sz="4800" b="1">
                <a:solidFill>
                  <a:srgbClr val="F8FAFC"/>
                </a:solidFill>
                <a:latin typeface="Aptos"/>
              </a:defRPr>
            </a:pPr>
            <a:r>
              <a:t>QuantIntel</a:t>
            </a:r>
          </a:p>
        </p:txBody>
      </p:sp>
      <p:sp>
        <p:nvSpPr>
          <p:cNvPr id="7" name="TextBox 6"/>
          <p:cNvSpPr txBox="1"/>
          <p:nvPr/>
        </p:nvSpPr>
        <p:spPr>
          <a:xfrm>
            <a:off x="777240" y="2514600"/>
            <a:ext cx="7772400" cy="457200"/>
          </a:xfrm>
          <a:prstGeom prst="rect">
            <a:avLst/>
          </a:prstGeom>
          <a:noFill/>
        </p:spPr>
        <p:txBody>
          <a:bodyPr wrap="square" lIns="0" tIns="0" rIns="0" bIns="0">
            <a:spAutoFit/>
          </a:bodyPr>
          <a:lstStyle/>
          <a:p>
            <a:pPr>
              <a:defRPr sz="2000" b="1">
                <a:solidFill>
                  <a:srgbClr val="4ADE80"/>
                </a:solidFill>
                <a:latin typeface="Aptos"/>
              </a:defRPr>
            </a:pPr>
            <a:r>
              <a:t>Autonomous Agentic Lab for Quantitative Alpha Discovery</a:t>
            </a:r>
          </a:p>
        </p:txBody>
      </p:sp>
      <p:sp>
        <p:nvSpPr>
          <p:cNvPr id="8" name="TextBox 7"/>
          <p:cNvSpPr txBox="1"/>
          <p:nvPr/>
        </p:nvSpPr>
        <p:spPr>
          <a:xfrm>
            <a:off x="777240" y="3108960"/>
            <a:ext cx="7498079" cy="731520"/>
          </a:xfrm>
          <a:prstGeom prst="rect">
            <a:avLst/>
          </a:prstGeom>
          <a:noFill/>
        </p:spPr>
        <p:txBody>
          <a:bodyPr wrap="square" lIns="0" tIns="0" rIns="0" bIns="0">
            <a:spAutoFit/>
          </a:bodyPr>
          <a:lstStyle/>
          <a:p>
            <a:pPr>
              <a:defRPr sz="1300">
                <a:solidFill>
                  <a:srgbClr val="CBD5E1"/>
                </a:solidFill>
                <a:latin typeface="Aptos"/>
              </a:defRPr>
            </a:pPr>
            <a:r>
              <a:t>Transforming unstructured, live-web corporate disclosures into source-grounded, statistically validated quantitative hypotheses through TinyFish web agents and deterministic Python backtesting.</a:t>
            </a:r>
          </a:p>
        </p:txBody>
      </p:sp>
      <p:sp>
        <p:nvSpPr>
          <p:cNvPr id="9" name="Rounded Rectangle 8"/>
          <p:cNvSpPr/>
          <p:nvPr/>
        </p:nvSpPr>
        <p:spPr>
          <a:xfrm>
            <a:off x="777240" y="4206240"/>
            <a:ext cx="3108960" cy="11430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4206240"/>
            <a:ext cx="301752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43400"/>
            <a:ext cx="2743200" cy="822960"/>
          </a:xfrm>
          <a:prstGeom prst="rect">
            <a:avLst/>
          </a:prstGeom>
          <a:noFill/>
        </p:spPr>
        <p:txBody>
          <a:bodyPr wrap="square" lIns="0" tIns="0" rIns="0" bIns="0">
            <a:spAutoFit/>
          </a:bodyPr>
          <a:lstStyle/>
          <a:p>
            <a:pPr>
              <a:defRPr sz="1000" b="1">
                <a:solidFill>
                  <a:srgbClr val="26E5E8"/>
                </a:solidFill>
                <a:latin typeface="Aptos"/>
              </a:defRPr>
            </a:pPr>
            <a:r>
              <a:t>🌐 LIVE WEB DISCOVERY</a:t>
            </a:r>
          </a:p>
          <a:p>
            <a:pPr>
              <a:spcBef>
                <a:spcPts val="400"/>
              </a:spcBef>
              <a:defRPr sz="1200" b="1">
                <a:solidFill>
                  <a:srgbClr val="F8FAFC"/>
                </a:solidFill>
                <a:latin typeface="Aptos"/>
              </a:defRPr>
            </a:pPr>
            <a:r>
              <a:t>TinyFish Agent &amp; Search</a:t>
            </a:r>
          </a:p>
        </p:txBody>
      </p:sp>
      <p:sp>
        <p:nvSpPr>
          <p:cNvPr id="12" name="Rounded Rectangle 11"/>
          <p:cNvSpPr/>
          <p:nvPr/>
        </p:nvSpPr>
        <p:spPr>
          <a:xfrm>
            <a:off x="4114800" y="4206240"/>
            <a:ext cx="3108960" cy="11430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60520" y="4206240"/>
            <a:ext cx="301752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4343400"/>
            <a:ext cx="2743200" cy="822960"/>
          </a:xfrm>
          <a:prstGeom prst="rect">
            <a:avLst/>
          </a:prstGeom>
          <a:noFill/>
        </p:spPr>
        <p:txBody>
          <a:bodyPr wrap="square" lIns="0" tIns="0" rIns="0" bIns="0">
            <a:spAutoFit/>
          </a:bodyPr>
          <a:lstStyle/>
          <a:p>
            <a:pPr>
              <a:defRPr sz="1000" b="1">
                <a:solidFill>
                  <a:srgbClr val="4ADE80"/>
                </a:solidFill>
                <a:latin typeface="Aptos"/>
              </a:defRPr>
            </a:pPr>
            <a:r>
              <a:t>📐 PYDANTIC EVIDENCE</a:t>
            </a:r>
          </a:p>
          <a:p>
            <a:pPr>
              <a:spcBef>
                <a:spcPts val="400"/>
              </a:spcBef>
              <a:defRPr sz="1200" b="1">
                <a:solidFill>
                  <a:srgbClr val="F8FAFC"/>
                </a:solidFill>
                <a:latin typeface="Aptos"/>
              </a:defRPr>
            </a:pPr>
            <a:r>
              <a:t>Zero-Hallucination Schema</a:t>
            </a:r>
          </a:p>
        </p:txBody>
      </p:sp>
      <p:sp>
        <p:nvSpPr>
          <p:cNvPr id="15" name="Rounded Rectangle 14"/>
          <p:cNvSpPr/>
          <p:nvPr/>
        </p:nvSpPr>
        <p:spPr>
          <a:xfrm>
            <a:off x="7452360" y="4206240"/>
            <a:ext cx="3108960" cy="11430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498080" y="4206240"/>
            <a:ext cx="301752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35240" y="4343400"/>
            <a:ext cx="2743200" cy="822960"/>
          </a:xfrm>
          <a:prstGeom prst="rect">
            <a:avLst/>
          </a:prstGeom>
          <a:noFill/>
        </p:spPr>
        <p:txBody>
          <a:bodyPr wrap="square" lIns="0" tIns="0" rIns="0" bIns="0">
            <a:spAutoFit/>
          </a:bodyPr>
          <a:lstStyle/>
          <a:p>
            <a:pPr>
              <a:defRPr sz="1000" b="1">
                <a:solidFill>
                  <a:srgbClr val="FBBF24"/>
                </a:solidFill>
                <a:latin typeface="Aptos"/>
              </a:defRPr>
            </a:pPr>
            <a:r>
              <a:t>⚡ PYTHON SANDBOX</a:t>
            </a:r>
          </a:p>
          <a:p>
            <a:pPr>
              <a:spcBef>
                <a:spcPts val="400"/>
              </a:spcBef>
              <a:defRPr sz="1200" b="1">
                <a:solidFill>
                  <a:srgbClr val="F8FAFC"/>
                </a:solidFill>
                <a:latin typeface="Aptos"/>
              </a:defRPr>
            </a:pPr>
            <a:r>
              <a:t>Deterministic CAR Backtesting</a:t>
            </a:r>
          </a:p>
        </p:txBody>
      </p:sp>
      <p:sp>
        <p:nvSpPr>
          <p:cNvPr id="18" name="Rounded Rectangle 17"/>
          <p:cNvSpPr/>
          <p:nvPr/>
        </p:nvSpPr>
        <p:spPr>
          <a:xfrm>
            <a:off x="777240" y="5669280"/>
            <a:ext cx="10607040" cy="594360"/>
          </a:xfrm>
          <a:prstGeom prst="roundRect">
            <a:avLst/>
          </a:prstGeom>
          <a:solidFill>
            <a:srgbClr val="0F1A30"/>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779008"/>
            <a:ext cx="10058400" cy="365760"/>
          </a:xfrm>
          <a:prstGeom prst="rect">
            <a:avLst/>
          </a:prstGeom>
          <a:noFill/>
        </p:spPr>
        <p:txBody>
          <a:bodyPr wrap="none" lIns="0" tIns="0" rIns="0" bIns="0">
            <a:spAutoFit/>
          </a:bodyPr>
          <a:lstStyle/>
          <a:p>
            <a:pPr>
              <a:defRPr sz="1100">
                <a:solidFill>
                  <a:srgbClr val="94A3B8"/>
                </a:solidFill>
                <a:latin typeface="Aptos"/>
              </a:defRPr>
            </a:pPr>
            <a:r>
              <a:t>Proposed by: Manish Yadav  |  Scaler School of Technology    •    Track: AI Web Agents &amp; FinTech Innovation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01 • MARKET BOTTLENECK</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The Quantitative Research Chasm</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Quantitative researchers spend 70%+ of their time gathering and verifying unstructured web disclosures.</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02</a:t>
            </a:r>
          </a:p>
        </p:txBody>
      </p:sp>
      <p:sp>
        <p:nvSpPr>
          <p:cNvPr id="7" name="Rounded Rectangle 6"/>
          <p:cNvSpPr/>
          <p:nvPr/>
        </p:nvSpPr>
        <p:spPr>
          <a:xfrm>
            <a:off x="731520"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73152" cy="356616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971800" cy="640080"/>
          </a:xfrm>
          <a:prstGeom prst="rect">
            <a:avLst/>
          </a:prstGeom>
          <a:noFill/>
        </p:spPr>
        <p:txBody>
          <a:bodyPr wrap="square" lIns="0" tIns="0" rIns="0" bIns="0">
            <a:spAutoFit/>
          </a:bodyPr>
          <a:lstStyle/>
          <a:p>
            <a:pPr>
              <a:defRPr sz="950" b="1">
                <a:solidFill>
                  <a:srgbClr val="26E5E8"/>
                </a:solidFill>
                <a:latin typeface="Aptos"/>
              </a:defRPr>
            </a:pPr>
            <a:r>
              <a:t>01 • FRAGMENTED LIVE WEB</a:t>
            </a:r>
          </a:p>
          <a:p>
            <a:pPr>
              <a:spcBef>
                <a:spcPts val="300"/>
              </a:spcBef>
              <a:defRPr sz="1300" b="1">
                <a:solidFill>
                  <a:srgbClr val="F8FAFC"/>
                </a:solidFill>
                <a:latin typeface="Aptos"/>
              </a:defRPr>
            </a:pPr>
            <a:r>
              <a:t>Alpha Hidden in Dynamic Silos</a:t>
            </a:r>
          </a:p>
        </p:txBody>
      </p:sp>
      <p:sp>
        <p:nvSpPr>
          <p:cNvPr id="10" name="TextBox 9"/>
          <p:cNvSpPr txBox="1"/>
          <p:nvPr/>
        </p:nvSpPr>
        <p:spPr>
          <a:xfrm>
            <a:off x="960120" y="2651760"/>
            <a:ext cx="2971800" cy="265176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b="1">
                <a:solidFill>
                  <a:srgbClr val="F8FAFC"/>
                </a:solidFill>
                <a:latin typeface="Aptos"/>
              </a:rPr>
              <a:t>Modern Web is Dynamic: </a:t>
            </a:r>
            <a:r>
              <a:rPr sz="950">
                <a:solidFill>
                  <a:srgbClr val="94A3B8"/>
                </a:solidFill>
                <a:latin typeface="Aptos"/>
              </a:rPr>
              <a:t>Market catalysts live behind JavaScript-heavy IR portals, SEC EDGAR tables, FDA registries, and paywalled press releases.</a:t>
            </a:r>
          </a:p>
          <a:p>
            <a:pPr>
              <a:spcBef>
                <a:spcPts val="800"/>
              </a:spcBef>
            </a:pPr>
            <a:r>
              <a:rPr sz="1000" b="1">
                <a:solidFill>
                  <a:srgbClr val="26E5E8"/>
                </a:solidFill>
                <a:latin typeface="Aptos"/>
              </a:rPr>
              <a:t>• </a:t>
            </a:r>
            <a:r>
              <a:rPr sz="950" b="1">
                <a:solidFill>
                  <a:srgbClr val="F8FAFC"/>
                </a:solidFill>
                <a:latin typeface="Aptos"/>
              </a:rPr>
              <a:t>Scrapers Break Easily: </a:t>
            </a:r>
            <a:r>
              <a:rPr sz="950">
                <a:solidFill>
                  <a:srgbClr val="94A3B8"/>
                </a:solidFill>
                <a:latin typeface="Aptos"/>
              </a:rPr>
              <a:t>Standard HTTP requests fail on single-page apps (SPAs) and trigger anti-bot blocks, starving quant models of timely data.</a:t>
            </a:r>
          </a:p>
          <a:p>
            <a:pPr>
              <a:spcBef>
                <a:spcPts val="800"/>
              </a:spcBef>
            </a:pPr>
            <a:r>
              <a:rPr sz="1000" b="1">
                <a:solidFill>
                  <a:srgbClr val="26E5E8"/>
                </a:solidFill>
                <a:latin typeface="Aptos"/>
              </a:rPr>
              <a:t>• </a:t>
            </a:r>
            <a:r>
              <a:rPr sz="950" b="1">
                <a:solidFill>
                  <a:srgbClr val="F8FAFC"/>
                </a:solidFill>
                <a:latin typeface="Aptos"/>
              </a:rPr>
              <a:t>Knowledge Cutoff Limits: </a:t>
            </a:r>
            <a:r>
              <a:rPr sz="950">
                <a:solidFill>
                  <a:srgbClr val="94A3B8"/>
                </a:solidFill>
                <a:latin typeface="Aptos"/>
              </a:rPr>
              <a:t>Static LLMs have outdated weights and zero access to live breaking market developments.</a:t>
            </a:r>
          </a:p>
        </p:txBody>
      </p:sp>
      <p:sp>
        <p:nvSpPr>
          <p:cNvPr id="11" name="Rounded Rectangle 10"/>
          <p:cNvSpPr/>
          <p:nvPr/>
        </p:nvSpPr>
        <p:spPr>
          <a:xfrm>
            <a:off x="4425696"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5696" y="1828800"/>
            <a:ext cx="73152" cy="35661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2971800" cy="640080"/>
          </a:xfrm>
          <a:prstGeom prst="rect">
            <a:avLst/>
          </a:prstGeom>
          <a:noFill/>
        </p:spPr>
        <p:txBody>
          <a:bodyPr wrap="square" lIns="0" tIns="0" rIns="0" bIns="0">
            <a:spAutoFit/>
          </a:bodyPr>
          <a:lstStyle/>
          <a:p>
            <a:pPr>
              <a:defRPr sz="950" b="1">
                <a:solidFill>
                  <a:srgbClr val="F87171"/>
                </a:solidFill>
                <a:latin typeface="Aptos"/>
              </a:defRPr>
            </a:pPr>
            <a:r>
              <a:t>02 • THE HALLUCINATION TRAP</a:t>
            </a:r>
          </a:p>
          <a:p>
            <a:pPr>
              <a:spcBef>
                <a:spcPts val="300"/>
              </a:spcBef>
              <a:defRPr sz="1300" b="1">
                <a:solidFill>
                  <a:srgbClr val="F8FAFC"/>
                </a:solidFill>
                <a:latin typeface="Aptos"/>
              </a:defRPr>
            </a:pPr>
            <a:r>
              <a:t>Catastrophic Look-Ahead Bias</a:t>
            </a:r>
          </a:p>
        </p:txBody>
      </p:sp>
      <p:sp>
        <p:nvSpPr>
          <p:cNvPr id="14" name="TextBox 13"/>
          <p:cNvSpPr txBox="1"/>
          <p:nvPr/>
        </p:nvSpPr>
        <p:spPr>
          <a:xfrm>
            <a:off x="4654296" y="2651760"/>
            <a:ext cx="2971800" cy="2651760"/>
          </a:xfrm>
          <a:prstGeom prst="rect">
            <a:avLst/>
          </a:prstGeom>
          <a:noFill/>
        </p:spPr>
        <p:txBody>
          <a:bodyPr wrap="square" lIns="0" tIns="0" rIns="0" bIns="0">
            <a:spAutoFit/>
          </a:bodyPr>
          <a:lstStyle/>
          <a:p>
            <a:pPr>
              <a:spcBef>
                <a:spcPts val="0"/>
              </a:spcBef>
            </a:pPr>
            <a:r>
              <a:rPr sz="1000" b="1">
                <a:solidFill>
                  <a:srgbClr val="F87171"/>
                </a:solidFill>
                <a:latin typeface="Aptos"/>
              </a:rPr>
              <a:t>• </a:t>
            </a:r>
            <a:r>
              <a:rPr sz="950" b="1">
                <a:solidFill>
                  <a:srgbClr val="F8FAFC"/>
                </a:solidFill>
                <a:latin typeface="Aptos"/>
              </a:rPr>
              <a:t>Misattributed Timestamps: </a:t>
            </a:r>
            <a:r>
              <a:rPr sz="950">
                <a:solidFill>
                  <a:srgbClr val="94A3B8"/>
                </a:solidFill>
                <a:latin typeface="Aptos"/>
              </a:rPr>
              <a:t>Generic LLMs frequently hallucinate event dates, confusing press release dates with filing dates.</a:t>
            </a:r>
          </a:p>
          <a:p>
            <a:pPr>
              <a:spcBef>
                <a:spcPts val="800"/>
              </a:spcBef>
            </a:pPr>
            <a:r>
              <a:rPr sz="1000" b="1">
                <a:solidFill>
                  <a:srgbClr val="F87171"/>
                </a:solidFill>
                <a:latin typeface="Aptos"/>
              </a:rPr>
              <a:t>• </a:t>
            </a:r>
            <a:r>
              <a:rPr sz="950" b="1">
                <a:solidFill>
                  <a:srgbClr val="F8FAFC"/>
                </a:solidFill>
                <a:latin typeface="Aptos"/>
              </a:rPr>
              <a:t>The Look-Ahead Trap: </a:t>
            </a:r>
            <a:r>
              <a:rPr sz="950">
                <a:solidFill>
                  <a:srgbClr val="94A3B8"/>
                </a:solidFill>
                <a:latin typeface="Aptos"/>
              </a:rPr>
              <a:t>In quantitative backtesting, using information 1 day before it was public invalidates the entire alpha model.</a:t>
            </a:r>
          </a:p>
          <a:p>
            <a:pPr>
              <a:spcBef>
                <a:spcPts val="800"/>
              </a:spcBef>
            </a:pPr>
            <a:r>
              <a:rPr sz="1000" b="1">
                <a:solidFill>
                  <a:srgbClr val="F87171"/>
                </a:solidFill>
                <a:latin typeface="Aptos"/>
              </a:rPr>
              <a:t>• </a:t>
            </a:r>
            <a:r>
              <a:rPr sz="950" b="1">
                <a:solidFill>
                  <a:srgbClr val="F8FAFC"/>
                </a:solidFill>
                <a:latin typeface="Aptos"/>
              </a:rPr>
              <a:t>Lack of Auditability: </a:t>
            </a:r>
            <a:r>
              <a:rPr sz="950">
                <a:solidFill>
                  <a:srgbClr val="94A3B8"/>
                </a:solidFill>
                <a:latin typeface="Aptos"/>
              </a:rPr>
              <a:t>LLM chat outputs provide no click-through source evidence or verifiable provenance for regulatory audit.</a:t>
            </a:r>
          </a:p>
        </p:txBody>
      </p:sp>
      <p:sp>
        <p:nvSpPr>
          <p:cNvPr id="15" name="Rounded Rectangle 14"/>
          <p:cNvSpPr/>
          <p:nvPr/>
        </p:nvSpPr>
        <p:spPr>
          <a:xfrm>
            <a:off x="8119872"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1828800"/>
            <a:ext cx="73152" cy="35661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965960"/>
            <a:ext cx="2971800" cy="640080"/>
          </a:xfrm>
          <a:prstGeom prst="rect">
            <a:avLst/>
          </a:prstGeom>
          <a:noFill/>
        </p:spPr>
        <p:txBody>
          <a:bodyPr wrap="square" lIns="0" tIns="0" rIns="0" bIns="0">
            <a:spAutoFit/>
          </a:bodyPr>
          <a:lstStyle/>
          <a:p>
            <a:pPr>
              <a:defRPr sz="950" b="1">
                <a:solidFill>
                  <a:srgbClr val="FBBF24"/>
                </a:solidFill>
                <a:latin typeface="Aptos"/>
              </a:defRPr>
            </a:pPr>
            <a:r>
              <a:t>03 • THE WEB-TO-CODE GAP</a:t>
            </a:r>
          </a:p>
          <a:p>
            <a:pPr>
              <a:spcBef>
                <a:spcPts val="300"/>
              </a:spcBef>
              <a:defRPr sz="1300" b="1">
                <a:solidFill>
                  <a:srgbClr val="F8FAFC"/>
                </a:solidFill>
                <a:latin typeface="Aptos"/>
              </a:defRPr>
            </a:pPr>
            <a:r>
              <a:t>Disjointed Manual Pipelines</a:t>
            </a:r>
          </a:p>
        </p:txBody>
      </p:sp>
      <p:sp>
        <p:nvSpPr>
          <p:cNvPr id="18" name="TextBox 17"/>
          <p:cNvSpPr txBox="1"/>
          <p:nvPr/>
        </p:nvSpPr>
        <p:spPr>
          <a:xfrm>
            <a:off x="8348472" y="2651760"/>
            <a:ext cx="2971800" cy="265176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b="1">
                <a:solidFill>
                  <a:srgbClr val="F8FAFC"/>
                </a:solidFill>
                <a:latin typeface="Aptos"/>
              </a:rPr>
              <a:t>Text vs Math Disconnect: </a:t>
            </a:r>
            <a:r>
              <a:rPr sz="950">
                <a:solidFill>
                  <a:srgbClr val="94A3B8"/>
                </a:solidFill>
                <a:latin typeface="Aptos"/>
              </a:rPr>
              <a:t>Reading news is qualitative and textual; statistical backtesting is quantitative and mathematical.</a:t>
            </a:r>
          </a:p>
          <a:p>
            <a:pPr>
              <a:spcBef>
                <a:spcPts val="800"/>
              </a:spcBef>
            </a:pPr>
            <a:r>
              <a:rPr sz="1000" b="1">
                <a:solidFill>
                  <a:srgbClr val="FBBF24"/>
                </a:solidFill>
                <a:latin typeface="Aptos"/>
              </a:rPr>
              <a:t>• </a:t>
            </a:r>
            <a:r>
              <a:rPr sz="950" b="1">
                <a:solidFill>
                  <a:srgbClr val="F8FAFC"/>
                </a:solidFill>
                <a:latin typeface="Aptos"/>
              </a:rPr>
              <a:t>Manual Translation: </a:t>
            </a:r>
            <a:r>
              <a:rPr sz="950">
                <a:solidFill>
                  <a:srgbClr val="94A3B8"/>
                </a:solidFill>
                <a:latin typeface="Aptos"/>
              </a:rPr>
              <a:t>Turning a corporate announcement into a rigorous null hypothesis (H0 vs H1) takes hours of manual data collation.</a:t>
            </a:r>
          </a:p>
          <a:p>
            <a:pPr>
              <a:spcBef>
                <a:spcPts val="800"/>
              </a:spcBef>
            </a:pPr>
            <a:r>
              <a:rPr sz="1000" b="1">
                <a:solidFill>
                  <a:srgbClr val="FBBF24"/>
                </a:solidFill>
                <a:latin typeface="Aptos"/>
              </a:rPr>
              <a:t>• </a:t>
            </a:r>
            <a:r>
              <a:rPr sz="950" b="1">
                <a:solidFill>
                  <a:srgbClr val="F8FAFC"/>
                </a:solidFill>
                <a:latin typeface="Aptos"/>
              </a:rPr>
              <a:t>Slow Time-to-Validation: </a:t>
            </a:r>
            <a:r>
              <a:rPr sz="950">
                <a:solidFill>
                  <a:srgbClr val="94A3B8"/>
                </a:solidFill>
                <a:latin typeface="Aptos"/>
              </a:rPr>
              <a:t>By the time an analyst manually validates a news-driven anomaly, market participants have already arbitraged the alpha.</a:t>
            </a:r>
          </a:p>
        </p:txBody>
      </p:sp>
      <p:sp>
        <p:nvSpPr>
          <p:cNvPr id="19" name="Rounded Rectangle 18"/>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669280"/>
            <a:ext cx="73152" cy="6400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15000"/>
            <a:ext cx="10241280" cy="548640"/>
          </a:xfrm>
          <a:prstGeom prst="rect">
            <a:avLst/>
          </a:prstGeom>
          <a:noFill/>
        </p:spPr>
        <p:txBody>
          <a:bodyPr wrap="square" lIns="0" tIns="0" rIns="0" bIns="0">
            <a:spAutoFit/>
          </a:bodyPr>
          <a:lstStyle/>
          <a:p>
            <a:r>
              <a:rPr sz="1050" b="1">
                <a:solidFill>
                  <a:srgbClr val="4ADE80"/>
                </a:solidFill>
                <a:latin typeface="Aptos"/>
              </a:rPr>
              <a:t>THE QUANTINTEL OPPORTUNITY: </a:t>
            </a:r>
            <a:r>
              <a:rPr sz="1000">
                <a:solidFill>
                  <a:srgbClr val="CBD5E1"/>
                </a:solidFill>
                <a:latin typeface="Aptos"/>
              </a:rPr>
              <a:t>Replace hours of brittle manual web scraping with an autonomous TinyFish agent that extracts traceable, date-verified evidence and outputs executable Python code to backtest alpha hypotheses in minutes.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02 • THE SOLUTION</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QuantIntel: Grounded Web-to-Quant Intelligence</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An autonomous research lab that pairs live web exploration with deterministic statistical validation.</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03</a:t>
            </a:r>
          </a:p>
        </p:txBody>
      </p:sp>
      <p:sp>
        <p:nvSpPr>
          <p:cNvPr id="7" name="Rounded Rectangle 6"/>
          <p:cNvSpPr/>
          <p:nvPr/>
        </p:nvSpPr>
        <p:spPr>
          <a:xfrm>
            <a:off x="731520"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4612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971800" cy="685800"/>
          </a:xfrm>
          <a:prstGeom prst="rect">
            <a:avLst/>
          </a:prstGeom>
          <a:noFill/>
        </p:spPr>
        <p:txBody>
          <a:bodyPr wrap="square" lIns="0" tIns="0" rIns="0" bIns="0">
            <a:spAutoFit/>
          </a:bodyPr>
          <a:lstStyle/>
          <a:p>
            <a:pPr>
              <a:defRPr sz="950" b="1">
                <a:solidFill>
                  <a:srgbClr val="26E5E8"/>
                </a:solidFill>
                <a:latin typeface="Aptos"/>
              </a:defRPr>
            </a:pPr>
            <a:r>
              <a:t>PILLAR 1</a:t>
            </a:r>
          </a:p>
          <a:p>
            <a:pPr>
              <a:spcBef>
                <a:spcPts val="300"/>
              </a:spcBef>
              <a:defRPr sz="1300" b="1">
                <a:solidFill>
                  <a:srgbClr val="F8FAFC"/>
                </a:solidFill>
                <a:latin typeface="Aptos"/>
              </a:defRPr>
            </a:pPr>
            <a:r>
              <a:t>Autonomous Live Web Recon</a:t>
            </a:r>
          </a:p>
          <a:p>
            <a:pPr>
              <a:spcBef>
                <a:spcPts val="200"/>
              </a:spcBef>
              <a:defRPr sz="950">
                <a:solidFill>
                  <a:srgbClr val="94A3B8"/>
                </a:solidFill>
                <a:latin typeface="Aptos"/>
              </a:defRPr>
            </a:pPr>
            <a:r>
              <a:t>Navigates the open web using TinyFish</a:t>
            </a:r>
          </a:p>
        </p:txBody>
      </p:sp>
      <p:sp>
        <p:nvSpPr>
          <p:cNvPr id="10" name="TextBox 9"/>
          <p:cNvSpPr txBox="1"/>
          <p:nvPr/>
        </p:nvSpPr>
        <p:spPr>
          <a:xfrm>
            <a:off x="960120" y="2926080"/>
            <a:ext cx="2971800" cy="237744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b="1">
                <a:solidFill>
                  <a:srgbClr val="F8FAFC"/>
                </a:solidFill>
                <a:latin typeface="Aptos"/>
              </a:rPr>
              <a:t>Live Search &amp; Discovery: </a:t>
            </a:r>
            <a:r>
              <a:rPr sz="950">
                <a:solidFill>
                  <a:srgbClr val="94A3B8"/>
                </a:solidFill>
                <a:latin typeface="Aptos"/>
              </a:rPr>
              <a:t>Proactively crawls breaking corporate announcements, earnings calls, and regulatory filings.</a:t>
            </a:r>
          </a:p>
          <a:p>
            <a:pPr>
              <a:spcBef>
                <a:spcPts val="800"/>
              </a:spcBef>
            </a:pPr>
            <a:r>
              <a:rPr sz="1000" b="1">
                <a:solidFill>
                  <a:srgbClr val="26E5E8"/>
                </a:solidFill>
                <a:latin typeface="Aptos"/>
              </a:rPr>
              <a:t>✓ </a:t>
            </a:r>
            <a:r>
              <a:rPr sz="950" b="1">
                <a:solidFill>
                  <a:srgbClr val="F8FAFC"/>
                </a:solidFill>
                <a:latin typeface="Aptos"/>
              </a:rPr>
              <a:t>Dynamic Content Extraction: </a:t>
            </a:r>
            <a:r>
              <a:rPr sz="950">
                <a:solidFill>
                  <a:srgbClr val="94A3B8"/>
                </a:solidFill>
                <a:latin typeface="Aptos"/>
              </a:rPr>
              <a:t>Renders JavaScript SPAs and converts complex investor portals into clean, low-token Markdown.</a:t>
            </a:r>
          </a:p>
          <a:p>
            <a:pPr>
              <a:spcBef>
                <a:spcPts val="800"/>
              </a:spcBef>
            </a:pPr>
            <a:r>
              <a:rPr sz="1000" b="1">
                <a:solidFill>
                  <a:srgbClr val="26E5E8"/>
                </a:solidFill>
                <a:latin typeface="Aptos"/>
              </a:rPr>
              <a:t>✓ </a:t>
            </a:r>
            <a:r>
              <a:rPr sz="950" b="1">
                <a:solidFill>
                  <a:srgbClr val="F8FAFC"/>
                </a:solidFill>
                <a:latin typeface="Aptos"/>
              </a:rPr>
              <a:t>Bypasses Scraping Fragility: </a:t>
            </a:r>
            <a:r>
              <a:rPr sz="950">
                <a:solidFill>
                  <a:srgbClr val="94A3B8"/>
                </a:solidFill>
                <a:latin typeface="Aptos"/>
              </a:rPr>
              <a:t>Serverless Chromium browser handles dynamic elements, pagination, and multi-step interactions.</a:t>
            </a:r>
          </a:p>
        </p:txBody>
      </p:sp>
      <p:sp>
        <p:nvSpPr>
          <p:cNvPr id="11" name="Rounded Rectangle 10"/>
          <p:cNvSpPr/>
          <p:nvPr/>
        </p:nvSpPr>
        <p:spPr>
          <a:xfrm>
            <a:off x="4425696"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71416" y="1783080"/>
            <a:ext cx="324612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2971800" cy="685800"/>
          </a:xfrm>
          <a:prstGeom prst="rect">
            <a:avLst/>
          </a:prstGeom>
          <a:noFill/>
        </p:spPr>
        <p:txBody>
          <a:bodyPr wrap="square" lIns="0" tIns="0" rIns="0" bIns="0">
            <a:spAutoFit/>
          </a:bodyPr>
          <a:lstStyle/>
          <a:p>
            <a:pPr>
              <a:defRPr sz="950" b="1">
                <a:solidFill>
                  <a:srgbClr val="4ADE80"/>
                </a:solidFill>
                <a:latin typeface="Aptos"/>
              </a:defRPr>
            </a:pPr>
            <a:r>
              <a:t>PILLAR 2</a:t>
            </a:r>
          </a:p>
          <a:p>
            <a:pPr>
              <a:spcBef>
                <a:spcPts val="300"/>
              </a:spcBef>
              <a:defRPr sz="1300" b="1">
                <a:solidFill>
                  <a:srgbClr val="F8FAFC"/>
                </a:solidFill>
                <a:latin typeface="Aptos"/>
              </a:defRPr>
            </a:pPr>
            <a:r>
              <a:t>Pydantic Evidence Brief</a:t>
            </a:r>
          </a:p>
          <a:p>
            <a:pPr>
              <a:spcBef>
                <a:spcPts val="200"/>
              </a:spcBef>
              <a:defRPr sz="950">
                <a:solidFill>
                  <a:srgbClr val="94A3B8"/>
                </a:solidFill>
                <a:latin typeface="Aptos"/>
              </a:defRPr>
            </a:pPr>
            <a:r>
              <a:t>Structures qualitative data with strict auditability</a:t>
            </a:r>
          </a:p>
        </p:txBody>
      </p:sp>
      <p:sp>
        <p:nvSpPr>
          <p:cNvPr id="14" name="TextBox 13"/>
          <p:cNvSpPr txBox="1"/>
          <p:nvPr/>
        </p:nvSpPr>
        <p:spPr>
          <a:xfrm>
            <a:off x="4654296" y="2926080"/>
            <a:ext cx="2971800" cy="2377440"/>
          </a:xfrm>
          <a:prstGeom prst="rect">
            <a:avLst/>
          </a:prstGeom>
          <a:noFill/>
        </p:spPr>
        <p:txBody>
          <a:bodyPr wrap="square" lIns="0" tIns="0" rIns="0" bIns="0">
            <a:spAutoFit/>
          </a:bodyPr>
          <a:lstStyle/>
          <a:p>
            <a:pPr>
              <a:spcBef>
                <a:spcPts val="0"/>
              </a:spcBef>
            </a:pPr>
            <a:r>
              <a:rPr sz="1000" b="1">
                <a:solidFill>
                  <a:srgbClr val="4ADE80"/>
                </a:solidFill>
                <a:latin typeface="Aptos"/>
              </a:rPr>
              <a:t>✓ </a:t>
            </a:r>
            <a:r>
              <a:rPr sz="950" b="1">
                <a:solidFill>
                  <a:srgbClr val="F8FAFC"/>
                </a:solidFill>
                <a:latin typeface="Aptos"/>
              </a:rPr>
              <a:t>Schema-Enforced Extraction: </a:t>
            </a:r>
            <a:r>
              <a:rPr sz="950">
                <a:solidFill>
                  <a:srgbClr val="94A3B8"/>
                </a:solidFill>
                <a:latin typeface="Aptos"/>
              </a:rPr>
              <a:t>Captures exact UTC event timestamps, validated entity tickers, and full source URLs.</a:t>
            </a:r>
          </a:p>
          <a:p>
            <a:pPr>
              <a:spcBef>
                <a:spcPts val="800"/>
              </a:spcBef>
            </a:pPr>
            <a:r>
              <a:rPr sz="1000" b="1">
                <a:solidFill>
                  <a:srgbClr val="4ADE80"/>
                </a:solidFill>
                <a:latin typeface="Aptos"/>
              </a:rPr>
              <a:t>✓ </a:t>
            </a:r>
            <a:r>
              <a:rPr sz="950" b="1">
                <a:solidFill>
                  <a:srgbClr val="F8FAFC"/>
                </a:solidFill>
                <a:latin typeface="Aptos"/>
              </a:rPr>
              <a:t>Citation Audit Trail: </a:t>
            </a:r>
            <a:r>
              <a:rPr sz="950">
                <a:solidFill>
                  <a:srgbClr val="94A3B8"/>
                </a:solidFill>
                <a:latin typeface="Aptos"/>
              </a:rPr>
              <a:t>Every single claim links directly to the underlying raw webpage context—zero unsourced statements.</a:t>
            </a:r>
          </a:p>
          <a:p>
            <a:pPr>
              <a:spcBef>
                <a:spcPts val="800"/>
              </a:spcBef>
            </a:pPr>
            <a:r>
              <a:rPr sz="1000" b="1">
                <a:solidFill>
                  <a:srgbClr val="4ADE80"/>
                </a:solidFill>
                <a:latin typeface="Aptos"/>
              </a:rPr>
              <a:t>✓ </a:t>
            </a:r>
            <a:r>
              <a:rPr sz="950" b="1">
                <a:solidFill>
                  <a:srgbClr val="F8FAFC"/>
                </a:solidFill>
                <a:latin typeface="Aptos"/>
              </a:rPr>
              <a:t>Falsifiable Hypotheses: </a:t>
            </a:r>
            <a:r>
              <a:rPr sz="950">
                <a:solidFill>
                  <a:srgbClr val="94A3B8"/>
                </a:solidFill>
                <a:latin typeface="Aptos"/>
              </a:rPr>
              <a:t>Formulates rigorous statistical tests (e.g., Abnormal Volume Surges, Post-Earnings Volatility) instead of speculation.</a:t>
            </a:r>
          </a:p>
        </p:txBody>
      </p:sp>
      <p:sp>
        <p:nvSpPr>
          <p:cNvPr id="15" name="Rounded Rectangle 14"/>
          <p:cNvSpPr/>
          <p:nvPr/>
        </p:nvSpPr>
        <p:spPr>
          <a:xfrm>
            <a:off x="8119872"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65592" y="1783080"/>
            <a:ext cx="324612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965960"/>
            <a:ext cx="2971800" cy="685800"/>
          </a:xfrm>
          <a:prstGeom prst="rect">
            <a:avLst/>
          </a:prstGeom>
          <a:noFill/>
        </p:spPr>
        <p:txBody>
          <a:bodyPr wrap="square" lIns="0" tIns="0" rIns="0" bIns="0">
            <a:spAutoFit/>
          </a:bodyPr>
          <a:lstStyle/>
          <a:p>
            <a:pPr>
              <a:defRPr sz="950" b="1">
                <a:solidFill>
                  <a:srgbClr val="FBBF24"/>
                </a:solidFill>
                <a:latin typeface="Aptos"/>
              </a:defRPr>
            </a:pPr>
            <a:r>
              <a:t>PILLAR 3</a:t>
            </a:r>
          </a:p>
          <a:p>
            <a:pPr>
              <a:spcBef>
                <a:spcPts val="300"/>
              </a:spcBef>
              <a:defRPr sz="1300" b="1">
                <a:solidFill>
                  <a:srgbClr val="F8FAFC"/>
                </a:solidFill>
                <a:latin typeface="Aptos"/>
              </a:defRPr>
            </a:pPr>
            <a:r>
              <a:t>Deterministic Python Engine</a:t>
            </a:r>
          </a:p>
          <a:p>
            <a:pPr>
              <a:spcBef>
                <a:spcPts val="200"/>
              </a:spcBef>
              <a:defRPr sz="950">
                <a:solidFill>
                  <a:srgbClr val="94A3B8"/>
                </a:solidFill>
                <a:latin typeface="Aptos"/>
              </a:defRPr>
            </a:pPr>
            <a:r>
              <a:t>Executes backtests in an isolated sandbox</a:t>
            </a:r>
          </a:p>
        </p:txBody>
      </p:sp>
      <p:sp>
        <p:nvSpPr>
          <p:cNvPr id="18" name="TextBox 17"/>
          <p:cNvSpPr txBox="1"/>
          <p:nvPr/>
        </p:nvSpPr>
        <p:spPr>
          <a:xfrm>
            <a:off x="8348472" y="2926080"/>
            <a:ext cx="2971800" cy="237744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b="1">
                <a:solidFill>
                  <a:srgbClr val="F8FAFC"/>
                </a:solidFill>
                <a:latin typeface="Aptos"/>
              </a:rPr>
              <a:t>Zero-Hallucination Math: </a:t>
            </a:r>
            <a:r>
              <a:rPr sz="950">
                <a:solidFill>
                  <a:srgbClr val="94A3B8"/>
                </a:solidFill>
                <a:latin typeface="Aptos"/>
              </a:rPr>
              <a:t>Mathematical calculations and statistical tests are dispatched exclusively to verified Python code.</a:t>
            </a:r>
          </a:p>
          <a:p>
            <a:pPr>
              <a:spcBef>
                <a:spcPts val="800"/>
              </a:spcBef>
            </a:pPr>
            <a:r>
              <a:rPr sz="1000" b="1">
                <a:solidFill>
                  <a:srgbClr val="FBBF24"/>
                </a:solidFill>
                <a:latin typeface="Aptos"/>
              </a:rPr>
              <a:t>✓ </a:t>
            </a:r>
            <a:r>
              <a:rPr sz="950" b="1">
                <a:solidFill>
                  <a:srgbClr val="F8FAFC"/>
                </a:solidFill>
                <a:latin typeface="Aptos"/>
              </a:rPr>
              <a:t>Historical Event Studies: </a:t>
            </a:r>
            <a:r>
              <a:rPr sz="950">
                <a:solidFill>
                  <a:srgbClr val="94A3B8"/>
                </a:solidFill>
                <a:latin typeface="Aptos"/>
              </a:rPr>
              <a:t>Analyzes Cumulative Abnormal Returns (CAR) and volume z-scores against historical benchmarks (yfinance).</a:t>
            </a:r>
          </a:p>
          <a:p>
            <a:pPr>
              <a:spcBef>
                <a:spcPts val="800"/>
              </a:spcBef>
            </a:pPr>
            <a:r>
              <a:rPr sz="1000" b="1">
                <a:solidFill>
                  <a:srgbClr val="FBBF24"/>
                </a:solidFill>
                <a:latin typeface="Aptos"/>
              </a:rPr>
              <a:t>✓ </a:t>
            </a:r>
            <a:r>
              <a:rPr sz="950" b="1">
                <a:solidFill>
                  <a:srgbClr val="F8FAFC"/>
                </a:solidFill>
                <a:latin typeface="Aptos"/>
              </a:rPr>
              <a:t>Academic Rigor: </a:t>
            </a:r>
            <a:r>
              <a:rPr sz="950">
                <a:solidFill>
                  <a:srgbClr val="94A3B8"/>
                </a:solidFill>
                <a:latin typeface="Aptos"/>
              </a:rPr>
              <a:t>Reports empirical p-values, t-statistics, and limitations—preventing false discovery and data mining.</a:t>
            </a:r>
          </a:p>
        </p:txBody>
      </p:sp>
      <p:sp>
        <p:nvSpPr>
          <p:cNvPr id="19" name="Rounded Rectangle 18"/>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669280"/>
            <a:ext cx="73152" cy="64008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15000"/>
            <a:ext cx="10241280" cy="548640"/>
          </a:xfrm>
          <a:prstGeom prst="rect">
            <a:avLst/>
          </a:prstGeom>
          <a:noFill/>
        </p:spPr>
        <p:txBody>
          <a:bodyPr wrap="square" lIns="0" tIns="0" rIns="0" bIns="0">
            <a:spAutoFit/>
          </a:bodyPr>
          <a:lstStyle/>
          <a:p>
            <a:r>
              <a:rPr sz="1050" b="1">
                <a:solidFill>
                  <a:srgbClr val="26E5E8"/>
                </a:solidFill>
                <a:latin typeface="Aptos"/>
              </a:rPr>
              <a:t>OUR CORE PRINCIPLE: </a:t>
            </a:r>
            <a:r>
              <a:rPr sz="1000">
                <a:solidFill>
                  <a:srgbClr val="CBD5E1"/>
                </a:solidFill>
                <a:latin typeface="Aptos"/>
              </a:rPr>
              <a:t>The AI Agent proposes structured hypotheses; Python computes the math. QuantIntel does NOT promise guaranteed profits, black-box price predictions, or autonomous trading execution. It delivers empirical, reproducible research.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03 • END-TO-END WORKFLOW</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A Concrete Alpha Research Journey</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From open-web catalyst to verifiable statistical output in 4 automated stages.</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04</a:t>
            </a:r>
          </a:p>
        </p:txBody>
      </p:sp>
      <p:sp>
        <p:nvSpPr>
          <p:cNvPr id="7" name="Rounded Rectangle 6"/>
          <p:cNvSpPr/>
          <p:nvPr/>
        </p:nvSpPr>
        <p:spPr>
          <a:xfrm>
            <a:off x="731520" y="1783080"/>
            <a:ext cx="2468880" cy="443484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237744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2139696" cy="640080"/>
          </a:xfrm>
          <a:prstGeom prst="rect">
            <a:avLst/>
          </a:prstGeom>
          <a:noFill/>
        </p:spPr>
        <p:txBody>
          <a:bodyPr wrap="square" lIns="0" tIns="0" rIns="0" bIns="0">
            <a:spAutoFit/>
          </a:bodyPr>
          <a:lstStyle/>
          <a:p>
            <a:pPr>
              <a:defRPr sz="950" b="1">
                <a:solidFill>
                  <a:srgbClr val="26E5E8"/>
                </a:solidFill>
                <a:latin typeface="Aptos"/>
              </a:defRPr>
            </a:pPr>
            <a:r>
              <a:t>STAGE 1</a:t>
            </a:r>
          </a:p>
          <a:p>
            <a:pPr>
              <a:spcBef>
                <a:spcPts val="300"/>
              </a:spcBef>
              <a:defRPr sz="1200" b="1">
                <a:solidFill>
                  <a:srgbClr val="F8FAFC"/>
                </a:solidFill>
                <a:latin typeface="Aptos"/>
              </a:defRPr>
            </a:pPr>
            <a:r>
              <a:t>The Analyst Prompt</a:t>
            </a:r>
          </a:p>
          <a:p>
            <a:pPr>
              <a:spcBef>
                <a:spcPts val="200"/>
              </a:spcBef>
              <a:defRPr sz="950">
                <a:solidFill>
                  <a:srgbClr val="94A3B8"/>
                </a:solidFill>
                <a:latin typeface="Aptos"/>
              </a:defRPr>
            </a:pPr>
            <a:r>
              <a:t>Natural Language Trigger</a:t>
            </a:r>
          </a:p>
        </p:txBody>
      </p:sp>
      <p:sp>
        <p:nvSpPr>
          <p:cNvPr id="10" name="TextBox 9"/>
          <p:cNvSpPr txBox="1"/>
          <p:nvPr/>
        </p:nvSpPr>
        <p:spPr>
          <a:xfrm>
            <a:off x="896112" y="2926080"/>
            <a:ext cx="2139696" cy="3017520"/>
          </a:xfrm>
          <a:prstGeom prst="rect">
            <a:avLst/>
          </a:prstGeom>
          <a:noFill/>
        </p:spPr>
        <p:txBody>
          <a:bodyPr wrap="square" lIns="0" tIns="0" rIns="0" bIns="0">
            <a:spAutoFit/>
          </a:bodyPr>
          <a:lstStyle/>
          <a:p>
            <a:pPr>
              <a:spcBef>
                <a:spcPts val="0"/>
              </a:spcBef>
            </a:pPr>
            <a:r>
              <a:rPr sz="950" b="1">
                <a:solidFill>
                  <a:srgbClr val="26E5E8"/>
                </a:solidFill>
                <a:latin typeface="Aptos"/>
              </a:rPr>
              <a:t>User Query:
</a:t>
            </a:r>
            <a:r>
              <a:rPr sz="900">
                <a:solidFill>
                  <a:srgbClr val="CBD5E1"/>
                </a:solidFill>
                <a:latin typeface="Aptos"/>
              </a:rPr>
              <a:t>“Investigate recent FDA advisory panel decisions for BioTech tickers ($BIIB, $MRNA). Extract event dates and test if pre-event volume exhibits statistical anomalies.”</a:t>
            </a:r>
          </a:p>
          <a:p>
            <a:pPr>
              <a:spcBef>
                <a:spcPts val="800"/>
              </a:spcBef>
            </a:pPr>
            <a:r>
              <a:rPr sz="950" b="1">
                <a:solidFill>
                  <a:srgbClr val="26E5E8"/>
                </a:solidFill>
                <a:latin typeface="Aptos"/>
              </a:rPr>
              <a:t>Intent Decomposed:
</a:t>
            </a:r>
            <a:r>
              <a:rPr sz="900">
                <a:solidFill>
                  <a:srgbClr val="CBD5E1"/>
                </a:solidFill>
                <a:latin typeface="Aptos"/>
              </a:rPr>
              <a:t>Target: Healthcare/Biotech | Event: FDA AdCom votes | Objective: Volume Event-Study.</a:t>
            </a:r>
          </a:p>
        </p:txBody>
      </p:sp>
      <p:sp>
        <p:nvSpPr>
          <p:cNvPr id="11" name="Rounded Rectangle 10"/>
          <p:cNvSpPr/>
          <p:nvPr/>
        </p:nvSpPr>
        <p:spPr>
          <a:xfrm>
            <a:off x="3483864" y="1783080"/>
            <a:ext cx="2468880" cy="443484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9584" y="1783080"/>
            <a:ext cx="237744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1965960"/>
            <a:ext cx="2139696" cy="640080"/>
          </a:xfrm>
          <a:prstGeom prst="rect">
            <a:avLst/>
          </a:prstGeom>
          <a:noFill/>
        </p:spPr>
        <p:txBody>
          <a:bodyPr wrap="square" lIns="0" tIns="0" rIns="0" bIns="0">
            <a:spAutoFit/>
          </a:bodyPr>
          <a:lstStyle/>
          <a:p>
            <a:pPr>
              <a:defRPr sz="950" b="1">
                <a:solidFill>
                  <a:srgbClr val="4ADE80"/>
                </a:solidFill>
                <a:latin typeface="Aptos"/>
              </a:defRPr>
            </a:pPr>
            <a:r>
              <a:t>STAGE 2</a:t>
            </a:r>
          </a:p>
          <a:p>
            <a:pPr>
              <a:spcBef>
                <a:spcPts val="300"/>
              </a:spcBef>
              <a:defRPr sz="1200" b="1">
                <a:solidFill>
                  <a:srgbClr val="F8FAFC"/>
                </a:solidFill>
                <a:latin typeface="Aptos"/>
              </a:defRPr>
            </a:pPr>
            <a:r>
              <a:t>TinyFish Reconnaissance</a:t>
            </a:r>
          </a:p>
          <a:p>
            <a:pPr>
              <a:spcBef>
                <a:spcPts val="200"/>
              </a:spcBef>
              <a:defRPr sz="950">
                <a:solidFill>
                  <a:srgbClr val="94A3B8"/>
                </a:solidFill>
                <a:latin typeface="Aptos"/>
              </a:defRPr>
            </a:pPr>
            <a:r>
              <a:t>Autonomous Live Browsing</a:t>
            </a:r>
          </a:p>
        </p:txBody>
      </p:sp>
      <p:sp>
        <p:nvSpPr>
          <p:cNvPr id="14" name="TextBox 13"/>
          <p:cNvSpPr txBox="1"/>
          <p:nvPr/>
        </p:nvSpPr>
        <p:spPr>
          <a:xfrm>
            <a:off x="3648456" y="2926080"/>
            <a:ext cx="2139696" cy="3017520"/>
          </a:xfrm>
          <a:prstGeom prst="rect">
            <a:avLst/>
          </a:prstGeom>
          <a:noFill/>
        </p:spPr>
        <p:txBody>
          <a:bodyPr wrap="square" lIns="0" tIns="0" rIns="0" bIns="0">
            <a:spAutoFit/>
          </a:bodyPr>
          <a:lstStyle/>
          <a:p>
            <a:pPr>
              <a:spcBef>
                <a:spcPts val="0"/>
              </a:spcBef>
            </a:pPr>
            <a:r>
              <a:rPr sz="950" b="1">
                <a:solidFill>
                  <a:srgbClr val="4ADE80"/>
                </a:solidFill>
                <a:latin typeface="Aptos"/>
              </a:rPr>
              <a:t>TinyFish Search:
</a:t>
            </a:r>
            <a:r>
              <a:rPr sz="900">
                <a:solidFill>
                  <a:srgbClr val="CBD5E1"/>
                </a:solidFill>
                <a:latin typeface="Aptos"/>
              </a:rPr>
              <a:t>Discovers official FDA.gov press announcements and BioPharma news wires in real time.</a:t>
            </a:r>
          </a:p>
          <a:p>
            <a:pPr>
              <a:spcBef>
                <a:spcPts val="800"/>
              </a:spcBef>
            </a:pPr>
            <a:r>
              <a:rPr sz="950" b="1">
                <a:solidFill>
                  <a:srgbClr val="4ADE80"/>
                </a:solidFill>
                <a:latin typeface="Aptos"/>
              </a:rPr>
              <a:t>TinyFish Fetch &amp; Agent:
</a:t>
            </a:r>
            <a:r>
              <a:rPr sz="900">
                <a:solidFill>
                  <a:srgbClr val="CBD5E1"/>
                </a:solidFill>
                <a:latin typeface="Aptos"/>
              </a:rPr>
              <a:t>Renders JavaScript calendar tables, navigates PDF docket attachments, and extracts clean markdown text without banner noise.</a:t>
            </a:r>
          </a:p>
        </p:txBody>
      </p:sp>
      <p:sp>
        <p:nvSpPr>
          <p:cNvPr id="15" name="Rounded Rectangle 14"/>
          <p:cNvSpPr/>
          <p:nvPr/>
        </p:nvSpPr>
        <p:spPr>
          <a:xfrm>
            <a:off x="6236208" y="1783080"/>
            <a:ext cx="2468880" cy="443484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81928" y="1783080"/>
            <a:ext cx="23774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65960"/>
            <a:ext cx="2139696" cy="640080"/>
          </a:xfrm>
          <a:prstGeom prst="rect">
            <a:avLst/>
          </a:prstGeom>
          <a:noFill/>
        </p:spPr>
        <p:txBody>
          <a:bodyPr wrap="square" lIns="0" tIns="0" rIns="0" bIns="0">
            <a:spAutoFit/>
          </a:bodyPr>
          <a:lstStyle/>
          <a:p>
            <a:pPr>
              <a:defRPr sz="950" b="1">
                <a:solidFill>
                  <a:srgbClr val="FBBF24"/>
                </a:solidFill>
                <a:latin typeface="Aptos"/>
              </a:defRPr>
            </a:pPr>
            <a:r>
              <a:t>STAGE 3</a:t>
            </a:r>
          </a:p>
          <a:p>
            <a:pPr>
              <a:spcBef>
                <a:spcPts val="300"/>
              </a:spcBef>
              <a:defRPr sz="1200" b="1">
                <a:solidFill>
                  <a:srgbClr val="F8FAFC"/>
                </a:solidFill>
                <a:latin typeface="Aptos"/>
              </a:defRPr>
            </a:pPr>
            <a:r>
              <a:t>Pydantic Structuring</a:t>
            </a:r>
          </a:p>
          <a:p>
            <a:pPr>
              <a:spcBef>
                <a:spcPts val="200"/>
              </a:spcBef>
              <a:defRPr sz="950">
                <a:solidFill>
                  <a:srgbClr val="94A3B8"/>
                </a:solidFill>
                <a:latin typeface="Aptos"/>
              </a:defRPr>
            </a:pPr>
            <a:r>
              <a:t>Hypothesis &amp; Evidence Schema</a:t>
            </a:r>
          </a:p>
        </p:txBody>
      </p:sp>
      <p:sp>
        <p:nvSpPr>
          <p:cNvPr id="18" name="TextBox 17"/>
          <p:cNvSpPr txBox="1"/>
          <p:nvPr/>
        </p:nvSpPr>
        <p:spPr>
          <a:xfrm>
            <a:off x="6400800" y="2926080"/>
            <a:ext cx="2139696" cy="3017520"/>
          </a:xfrm>
          <a:prstGeom prst="rect">
            <a:avLst/>
          </a:prstGeom>
          <a:noFill/>
        </p:spPr>
        <p:txBody>
          <a:bodyPr wrap="square" lIns="0" tIns="0" rIns="0" bIns="0">
            <a:spAutoFit/>
          </a:bodyPr>
          <a:lstStyle/>
          <a:p>
            <a:pPr>
              <a:spcBef>
                <a:spcPts val="0"/>
              </a:spcBef>
            </a:pPr>
            <a:r>
              <a:rPr sz="950" b="1">
                <a:solidFill>
                  <a:srgbClr val="FBBF24"/>
                </a:solidFill>
                <a:latin typeface="Aptos"/>
              </a:rPr>
              <a:t>Validated Entities:
</a:t>
            </a:r>
            <a:r>
              <a:rPr sz="900">
                <a:solidFill>
                  <a:srgbClr val="CBD5E1"/>
                </a:solidFill>
                <a:latin typeface="Aptos"/>
              </a:rPr>
              <a:t>Ticker: $BIIB | Date: 2024-10-18 | Source: fda.gov/news-events/... | Event: Positive Panel Recommendation.</a:t>
            </a:r>
          </a:p>
          <a:p>
            <a:pPr>
              <a:spcBef>
                <a:spcPts val="800"/>
              </a:spcBef>
            </a:pPr>
            <a:r>
              <a:rPr sz="950" b="1">
                <a:solidFill>
                  <a:srgbClr val="FBBF24"/>
                </a:solidFill>
                <a:latin typeface="Aptos"/>
              </a:rPr>
              <a:t>Formulated Hypothesis:
</a:t>
            </a:r>
            <a:r>
              <a:rPr sz="900">
                <a:solidFill>
                  <a:srgbClr val="CBD5E1"/>
                </a:solidFill>
                <a:latin typeface="Aptos"/>
              </a:rPr>
              <a:t>H0: Pre-announcement volume ratio (t-2 to t-1 vs 30d baseline) &lt;= 1.05 at 95% confidence (α=0.05).</a:t>
            </a:r>
          </a:p>
        </p:txBody>
      </p:sp>
      <p:sp>
        <p:nvSpPr>
          <p:cNvPr id="19" name="Rounded Rectangle 18"/>
          <p:cNvSpPr/>
          <p:nvPr/>
        </p:nvSpPr>
        <p:spPr>
          <a:xfrm>
            <a:off x="8988552" y="1783080"/>
            <a:ext cx="2468880" cy="443484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83080"/>
            <a:ext cx="2377440" cy="54864"/>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1965960"/>
            <a:ext cx="2139696" cy="640080"/>
          </a:xfrm>
          <a:prstGeom prst="rect">
            <a:avLst/>
          </a:prstGeom>
          <a:noFill/>
        </p:spPr>
        <p:txBody>
          <a:bodyPr wrap="square" lIns="0" tIns="0" rIns="0" bIns="0">
            <a:spAutoFit/>
          </a:bodyPr>
          <a:lstStyle/>
          <a:p>
            <a:pPr>
              <a:defRPr sz="950" b="1">
                <a:solidFill>
                  <a:srgbClr val="60A5FA"/>
                </a:solidFill>
                <a:latin typeface="Aptos"/>
              </a:defRPr>
            </a:pPr>
            <a:r>
              <a:t>STAGE 4</a:t>
            </a:r>
          </a:p>
          <a:p>
            <a:pPr>
              <a:spcBef>
                <a:spcPts val="300"/>
              </a:spcBef>
              <a:defRPr sz="1200" b="1">
                <a:solidFill>
                  <a:srgbClr val="F8FAFC"/>
                </a:solidFill>
                <a:latin typeface="Aptos"/>
              </a:defRPr>
            </a:pPr>
            <a:r>
              <a:t>Python Backtest Execution</a:t>
            </a:r>
          </a:p>
          <a:p>
            <a:pPr>
              <a:spcBef>
                <a:spcPts val="200"/>
              </a:spcBef>
              <a:defRPr sz="950">
                <a:solidFill>
                  <a:srgbClr val="94A3B8"/>
                </a:solidFill>
                <a:latin typeface="Aptos"/>
              </a:defRPr>
            </a:pPr>
            <a:r>
              <a:t>Deterministic Validation</a:t>
            </a:r>
          </a:p>
        </p:txBody>
      </p:sp>
      <p:sp>
        <p:nvSpPr>
          <p:cNvPr id="22" name="TextBox 21"/>
          <p:cNvSpPr txBox="1"/>
          <p:nvPr/>
        </p:nvSpPr>
        <p:spPr>
          <a:xfrm>
            <a:off x="9153144" y="2926080"/>
            <a:ext cx="2139696" cy="3017520"/>
          </a:xfrm>
          <a:prstGeom prst="rect">
            <a:avLst/>
          </a:prstGeom>
          <a:noFill/>
        </p:spPr>
        <p:txBody>
          <a:bodyPr wrap="square" lIns="0" tIns="0" rIns="0" bIns="0">
            <a:spAutoFit/>
          </a:bodyPr>
          <a:lstStyle/>
          <a:p>
            <a:pPr>
              <a:spcBef>
                <a:spcPts val="0"/>
              </a:spcBef>
            </a:pPr>
            <a:r>
              <a:rPr sz="950" b="1">
                <a:solidFill>
                  <a:srgbClr val="60A5FA"/>
                </a:solidFill>
                <a:latin typeface="Aptos"/>
              </a:rPr>
              <a:t>Sandboxed Code:
</a:t>
            </a:r>
            <a:r>
              <a:rPr sz="900">
                <a:solidFill>
                  <a:srgbClr val="CBD5E1"/>
                </a:solidFill>
                <a:latin typeface="Aptos"/>
              </a:rPr>
              <a:t>Queries Yahoo Finance historical OHLCV data. Calculates Abnormal Volume Ratio &amp; Cumulative Abnormal Return (CAR).</a:t>
            </a:r>
          </a:p>
          <a:p>
            <a:pPr>
              <a:spcBef>
                <a:spcPts val="800"/>
              </a:spcBef>
            </a:pPr>
            <a:r>
              <a:rPr sz="950" b="1">
                <a:solidFill>
                  <a:srgbClr val="60A5FA"/>
                </a:solidFill>
                <a:latin typeface="Aptos"/>
              </a:rPr>
              <a:t>Interactive Output:
</a:t>
            </a:r>
            <a:r>
              <a:rPr sz="900">
                <a:solidFill>
                  <a:srgbClr val="CBD5E1"/>
                </a:solidFill>
                <a:latin typeface="Aptos"/>
              </a:rPr>
              <a:t>Emits t-stat: 3.42 (p=0.002) with interactive chart, confidence band, and 1-click verifiable source audit trail.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04 • HACKATHON CORE</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Why TinyFish Powers the Core Engine</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QuantIntel is purpose-built to leverage TinyFish's differentiated web agent capabilities.</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05</a:t>
            </a:r>
          </a:p>
        </p:txBody>
      </p:sp>
      <p:sp>
        <p:nvSpPr>
          <p:cNvPr id="7" name="Rounded Rectangle 6"/>
          <p:cNvSpPr/>
          <p:nvPr/>
        </p:nvSpPr>
        <p:spPr>
          <a:xfrm>
            <a:off x="731520"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4612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971800" cy="640080"/>
          </a:xfrm>
          <a:prstGeom prst="rect">
            <a:avLst/>
          </a:prstGeom>
          <a:noFill/>
        </p:spPr>
        <p:txBody>
          <a:bodyPr wrap="square" lIns="0" tIns="0" rIns="0" bIns="0">
            <a:spAutoFit/>
          </a:bodyPr>
          <a:lstStyle/>
          <a:p>
            <a:pPr>
              <a:defRPr sz="950" b="1">
                <a:solidFill>
                  <a:srgbClr val="26E5E8"/>
                </a:solidFill>
                <a:latin typeface="Aptos"/>
              </a:defRPr>
            </a:pPr>
            <a:r>
              <a:t>TINYFISH SEARCH API</a:t>
            </a:r>
          </a:p>
          <a:p>
            <a:pPr>
              <a:spcBef>
                <a:spcPts val="300"/>
              </a:spcBef>
              <a:defRPr sz="1300" b="1">
                <a:solidFill>
                  <a:srgbClr val="F8FAFC"/>
                </a:solidFill>
                <a:latin typeface="Aptos"/>
              </a:defRPr>
            </a:pPr>
            <a:r>
              <a:t>Low-Latency Live Web Discovery</a:t>
            </a:r>
          </a:p>
        </p:txBody>
      </p:sp>
      <p:sp>
        <p:nvSpPr>
          <p:cNvPr id="10" name="TextBox 9"/>
          <p:cNvSpPr txBox="1"/>
          <p:nvPr/>
        </p:nvSpPr>
        <p:spPr>
          <a:xfrm>
            <a:off x="960120" y="2743200"/>
            <a:ext cx="2971800" cy="251460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b="1">
                <a:solidFill>
                  <a:srgbClr val="F8FAFC"/>
                </a:solidFill>
                <a:latin typeface="Aptos"/>
              </a:rPr>
              <a:t>Rank-Stable Indexing: </a:t>
            </a:r>
            <a:r>
              <a:rPr sz="950">
                <a:solidFill>
                  <a:srgbClr val="94A3B8"/>
                </a:solidFill>
                <a:latin typeface="Aptos"/>
              </a:rPr>
              <a:t>Retrieves authoritative, live financial announcements and earnings press releases without static knowledge cutoff limits.</a:t>
            </a:r>
          </a:p>
          <a:p>
            <a:pPr>
              <a:spcBef>
                <a:spcPts val="800"/>
              </a:spcBef>
            </a:pPr>
            <a:r>
              <a:rPr sz="1000" b="1">
                <a:solidFill>
                  <a:srgbClr val="26E5E8"/>
                </a:solidFill>
                <a:latin typeface="Aptos"/>
              </a:rPr>
              <a:t>• </a:t>
            </a:r>
            <a:r>
              <a:rPr sz="950" b="1">
                <a:solidFill>
                  <a:srgbClr val="F8FAFC"/>
                </a:solidFill>
                <a:latin typeface="Aptos"/>
              </a:rPr>
              <a:t>Focused Domain Scoping: </a:t>
            </a:r>
            <a:r>
              <a:rPr sz="950">
                <a:solidFill>
                  <a:srgbClr val="94A3B8"/>
                </a:solidFill>
                <a:latin typeface="Aptos"/>
              </a:rPr>
              <a:t>Directs queries to regulatory portals (SEC EDGAR, FDA, FTC) and corporate investor relations desks.</a:t>
            </a:r>
          </a:p>
          <a:p>
            <a:pPr>
              <a:spcBef>
                <a:spcPts val="800"/>
              </a:spcBef>
            </a:pPr>
            <a:r>
              <a:rPr sz="1000" b="1">
                <a:solidFill>
                  <a:srgbClr val="26E5E8"/>
                </a:solidFill>
                <a:latin typeface="Aptos"/>
              </a:rPr>
              <a:t>• </a:t>
            </a:r>
            <a:r>
              <a:rPr sz="950" b="1">
                <a:solidFill>
                  <a:srgbClr val="F8FAFC"/>
                </a:solidFill>
                <a:latin typeface="Aptos"/>
              </a:rPr>
              <a:t>Zero Token Waste: </a:t>
            </a:r>
            <a:r>
              <a:rPr sz="950">
                <a:solidFill>
                  <a:srgbClr val="94A3B8"/>
                </a:solidFill>
                <a:latin typeface="Aptos"/>
              </a:rPr>
              <a:t>Returns structured, ranked search hits rather than raw unstructured web sludge.</a:t>
            </a:r>
          </a:p>
        </p:txBody>
      </p:sp>
      <p:sp>
        <p:nvSpPr>
          <p:cNvPr id="11" name="Rounded Rectangle 10"/>
          <p:cNvSpPr/>
          <p:nvPr/>
        </p:nvSpPr>
        <p:spPr>
          <a:xfrm>
            <a:off x="4425696"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71416" y="1783080"/>
            <a:ext cx="324612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2971800" cy="640080"/>
          </a:xfrm>
          <a:prstGeom prst="rect">
            <a:avLst/>
          </a:prstGeom>
          <a:noFill/>
        </p:spPr>
        <p:txBody>
          <a:bodyPr wrap="square" lIns="0" tIns="0" rIns="0" bIns="0">
            <a:spAutoFit/>
          </a:bodyPr>
          <a:lstStyle/>
          <a:p>
            <a:pPr>
              <a:defRPr sz="950" b="1">
                <a:solidFill>
                  <a:srgbClr val="4ADE80"/>
                </a:solidFill>
                <a:latin typeface="Aptos"/>
              </a:defRPr>
            </a:pPr>
            <a:r>
              <a:t>TINYFISH FETCH API</a:t>
            </a:r>
          </a:p>
          <a:p>
            <a:pPr>
              <a:spcBef>
                <a:spcPts val="300"/>
              </a:spcBef>
              <a:defRPr sz="1300" b="1">
                <a:solidFill>
                  <a:srgbClr val="F8FAFC"/>
                </a:solidFill>
                <a:latin typeface="Aptos"/>
              </a:defRPr>
            </a:pPr>
            <a:r>
              <a:t>Pristine DOM-to-Markdown Extraction</a:t>
            </a:r>
          </a:p>
        </p:txBody>
      </p:sp>
      <p:sp>
        <p:nvSpPr>
          <p:cNvPr id="14" name="TextBox 13"/>
          <p:cNvSpPr txBox="1"/>
          <p:nvPr/>
        </p:nvSpPr>
        <p:spPr>
          <a:xfrm>
            <a:off x="4654296" y="2743200"/>
            <a:ext cx="2971800" cy="2514600"/>
          </a:xfrm>
          <a:prstGeom prst="rect">
            <a:avLst/>
          </a:prstGeom>
          <a:noFill/>
        </p:spPr>
        <p:txBody>
          <a:bodyPr wrap="square" lIns="0" tIns="0" rIns="0" bIns="0">
            <a:spAutoFit/>
          </a:bodyPr>
          <a:lstStyle/>
          <a:p>
            <a:pPr>
              <a:spcBef>
                <a:spcPts val="0"/>
              </a:spcBef>
            </a:pPr>
            <a:r>
              <a:rPr sz="1000" b="1">
                <a:solidFill>
                  <a:srgbClr val="4ADE80"/>
                </a:solidFill>
                <a:latin typeface="Aptos"/>
              </a:rPr>
              <a:t>• </a:t>
            </a:r>
            <a:r>
              <a:rPr sz="950" b="1">
                <a:solidFill>
                  <a:srgbClr val="F8FAFC"/>
                </a:solidFill>
                <a:latin typeface="Aptos"/>
              </a:rPr>
              <a:t>Cleans Messy Web HTML: </a:t>
            </a:r>
            <a:r>
              <a:rPr sz="950">
                <a:solidFill>
                  <a:srgbClr val="94A3B8"/>
                </a:solidFill>
                <a:latin typeface="Aptos"/>
              </a:rPr>
              <a:t>Automatically strips navigation bars, ads, cookie popups, and boilerplate clutter.</a:t>
            </a:r>
          </a:p>
          <a:p>
            <a:pPr>
              <a:spcBef>
                <a:spcPts val="800"/>
              </a:spcBef>
            </a:pPr>
            <a:r>
              <a:rPr sz="1000" b="1">
                <a:solidFill>
                  <a:srgbClr val="4ADE80"/>
                </a:solidFill>
                <a:latin typeface="Aptos"/>
              </a:rPr>
              <a:t>• </a:t>
            </a:r>
            <a:r>
              <a:rPr sz="950" b="1">
                <a:solidFill>
                  <a:srgbClr val="F8FAFC"/>
                </a:solidFill>
                <a:latin typeface="Aptos"/>
              </a:rPr>
              <a:t>80%+ Context Window Savings: </a:t>
            </a:r>
            <a:r>
              <a:rPr sz="950">
                <a:solidFill>
                  <a:srgbClr val="94A3B8"/>
                </a:solidFill>
                <a:latin typeface="Aptos"/>
              </a:rPr>
              <a:t>Delivers high-signal markdown directly into the LLM context, preventing token truncation and reducing latency.</a:t>
            </a:r>
          </a:p>
          <a:p>
            <a:pPr>
              <a:spcBef>
                <a:spcPts val="800"/>
              </a:spcBef>
            </a:pPr>
            <a:r>
              <a:rPr sz="1000" b="1">
                <a:solidFill>
                  <a:srgbClr val="4ADE80"/>
                </a:solidFill>
                <a:latin typeface="Aptos"/>
              </a:rPr>
              <a:t>• </a:t>
            </a:r>
            <a:r>
              <a:rPr sz="950" b="1">
                <a:solidFill>
                  <a:srgbClr val="F8FAFC"/>
                </a:solidFill>
                <a:latin typeface="Aptos"/>
              </a:rPr>
              <a:t>Preserves Semantic Tables: </a:t>
            </a:r>
            <a:r>
              <a:rPr sz="950">
                <a:solidFill>
                  <a:srgbClr val="94A3B8"/>
                </a:solidFill>
                <a:latin typeface="Aptos"/>
              </a:rPr>
              <a:t>Maintains financial balance sheets, filing dates, and numerical disclosures with high fidelity.</a:t>
            </a:r>
          </a:p>
        </p:txBody>
      </p:sp>
      <p:sp>
        <p:nvSpPr>
          <p:cNvPr id="15" name="Rounded Rectangle 14"/>
          <p:cNvSpPr/>
          <p:nvPr/>
        </p:nvSpPr>
        <p:spPr>
          <a:xfrm>
            <a:off x="8119872"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65592" y="1783080"/>
            <a:ext cx="324612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965960"/>
            <a:ext cx="2971800" cy="640080"/>
          </a:xfrm>
          <a:prstGeom prst="rect">
            <a:avLst/>
          </a:prstGeom>
          <a:noFill/>
        </p:spPr>
        <p:txBody>
          <a:bodyPr wrap="square" lIns="0" tIns="0" rIns="0" bIns="0">
            <a:spAutoFit/>
          </a:bodyPr>
          <a:lstStyle/>
          <a:p>
            <a:pPr>
              <a:defRPr sz="950" b="1">
                <a:solidFill>
                  <a:srgbClr val="FBBF24"/>
                </a:solidFill>
                <a:latin typeface="Aptos"/>
              </a:defRPr>
            </a:pPr>
            <a:r>
              <a:t>TINYFISH AGENT RUNTIME</a:t>
            </a:r>
          </a:p>
          <a:p>
            <a:pPr>
              <a:spcBef>
                <a:spcPts val="300"/>
              </a:spcBef>
              <a:defRPr sz="1300" b="1">
                <a:solidFill>
                  <a:srgbClr val="F8FAFC"/>
                </a:solidFill>
                <a:latin typeface="Aptos"/>
              </a:defRPr>
            </a:pPr>
            <a:r>
              <a:t>Autonomous Multi-Step Browser Execution</a:t>
            </a:r>
          </a:p>
        </p:txBody>
      </p:sp>
      <p:sp>
        <p:nvSpPr>
          <p:cNvPr id="18" name="TextBox 17"/>
          <p:cNvSpPr txBox="1"/>
          <p:nvPr/>
        </p:nvSpPr>
        <p:spPr>
          <a:xfrm>
            <a:off x="8348472" y="2743200"/>
            <a:ext cx="2971800" cy="251460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b="1">
                <a:solidFill>
                  <a:srgbClr val="F8FAFC"/>
                </a:solidFill>
                <a:latin typeface="Aptos"/>
              </a:rPr>
              <a:t>Dynamic JavaScript Execution: </a:t>
            </a:r>
            <a:r>
              <a:rPr sz="950">
                <a:solidFill>
                  <a:srgbClr val="94A3B8"/>
                </a:solidFill>
                <a:latin typeface="Aptos"/>
              </a:rPr>
              <a:t>Operates serverless Chromium to interact with modern SPAs that block traditional scrapers.</a:t>
            </a:r>
          </a:p>
          <a:p>
            <a:pPr>
              <a:spcBef>
                <a:spcPts val="800"/>
              </a:spcBef>
            </a:pPr>
            <a:r>
              <a:rPr sz="1000" b="1">
                <a:solidFill>
                  <a:srgbClr val="FBBF24"/>
                </a:solidFill>
                <a:latin typeface="Aptos"/>
              </a:rPr>
              <a:t>• </a:t>
            </a:r>
            <a:r>
              <a:rPr sz="950" b="1">
                <a:solidFill>
                  <a:srgbClr val="F8FAFC"/>
                </a:solidFill>
                <a:latin typeface="Aptos"/>
              </a:rPr>
              <a:t>Interactive Navigation: </a:t>
            </a:r>
            <a:r>
              <a:rPr sz="950">
                <a:solidFill>
                  <a:srgbClr val="94A3B8"/>
                </a:solidFill>
                <a:latin typeface="Aptos"/>
              </a:rPr>
              <a:t>Autonomously clicks pagination controls, selects date ranges, and navigates deep corporate filing archives.</a:t>
            </a:r>
          </a:p>
          <a:p>
            <a:pPr>
              <a:spcBef>
                <a:spcPts val="800"/>
              </a:spcBef>
            </a:pPr>
            <a:r>
              <a:rPr sz="1000" b="1">
                <a:solidFill>
                  <a:srgbClr val="FBBF24"/>
                </a:solidFill>
                <a:latin typeface="Aptos"/>
              </a:rPr>
              <a:t>• </a:t>
            </a:r>
            <a:r>
              <a:rPr sz="950" b="1">
                <a:solidFill>
                  <a:srgbClr val="F8FAFC"/>
                </a:solidFill>
                <a:latin typeface="Aptos"/>
              </a:rPr>
              <a:t>Stealth &amp; Resiliency: </a:t>
            </a:r>
            <a:r>
              <a:rPr sz="950">
                <a:solidFill>
                  <a:srgbClr val="94A3B8"/>
                </a:solidFill>
                <a:latin typeface="Aptos"/>
              </a:rPr>
              <a:t>Built-in anti-bot protection ensures reliable extraction from institutional investor portals.</a:t>
            </a:r>
          </a:p>
        </p:txBody>
      </p:sp>
      <p:sp>
        <p:nvSpPr>
          <p:cNvPr id="19" name="Rounded Rectangle 18"/>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669280"/>
            <a:ext cx="73152" cy="64008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15000"/>
            <a:ext cx="10241280" cy="548640"/>
          </a:xfrm>
          <a:prstGeom prst="rect">
            <a:avLst/>
          </a:prstGeom>
          <a:noFill/>
        </p:spPr>
        <p:txBody>
          <a:bodyPr wrap="square" lIns="0" tIns="0" rIns="0" bIns="0">
            <a:spAutoFit/>
          </a:bodyPr>
          <a:lstStyle/>
          <a:p>
            <a:r>
              <a:rPr sz="1050" b="1">
                <a:solidFill>
                  <a:srgbClr val="26E5E8"/>
                </a:solidFill>
                <a:latin typeface="Aptos"/>
              </a:rPr>
              <a:t>WHY TINYFISH IS CRITICAL: </a:t>
            </a:r>
            <a:r>
              <a:rPr sz="1000">
                <a:solidFill>
                  <a:srgbClr val="CBD5E1"/>
                </a:solidFill>
                <a:latin typeface="Aptos"/>
              </a:rPr>
              <a:t>Standard search APIs (Tavily/Google) only return snippets and cannot interact with dynamic JS portals or bypass modern anti-bot systems. TinyFish acts as our full-fledged remote browser execution runtime, making live corporate deep research possible.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05 • TECHNICAL ARCHITECTURE</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Multi-Tier Agentic Pipeline</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A decoupled 3-tier architecture ensuring deterministic execution, strict security, and zero hallucination.</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06</a:t>
            </a:r>
          </a:p>
        </p:txBody>
      </p:sp>
      <p:sp>
        <p:nvSpPr>
          <p:cNvPr id="7" name="Rounded Rectangle 6"/>
          <p:cNvSpPr/>
          <p:nvPr/>
        </p:nvSpPr>
        <p:spPr>
          <a:xfrm>
            <a:off x="731520"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73152" cy="356616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971800" cy="640080"/>
          </a:xfrm>
          <a:prstGeom prst="rect">
            <a:avLst/>
          </a:prstGeom>
          <a:noFill/>
        </p:spPr>
        <p:txBody>
          <a:bodyPr wrap="square" lIns="0" tIns="0" rIns="0" bIns="0">
            <a:spAutoFit/>
          </a:bodyPr>
          <a:lstStyle/>
          <a:p>
            <a:pPr>
              <a:defRPr sz="900" b="1">
                <a:solidFill>
                  <a:srgbClr val="26E5E8"/>
                </a:solidFill>
                <a:latin typeface="Aptos"/>
              </a:defRPr>
            </a:pPr>
            <a:r>
              <a:t>TIER 1 • INGESTION &amp; WEB AGENTS</a:t>
            </a:r>
          </a:p>
          <a:p>
            <a:pPr>
              <a:spcBef>
                <a:spcPts val="300"/>
              </a:spcBef>
              <a:defRPr sz="1300" b="1">
                <a:solidFill>
                  <a:srgbClr val="F8FAFC"/>
                </a:solidFill>
                <a:latin typeface="Aptos"/>
              </a:defRPr>
            </a:pPr>
            <a:r>
              <a:t>Live Discovery Layer</a:t>
            </a:r>
          </a:p>
        </p:txBody>
      </p:sp>
      <p:sp>
        <p:nvSpPr>
          <p:cNvPr id="10" name="TextBox 9"/>
          <p:cNvSpPr txBox="1"/>
          <p:nvPr/>
        </p:nvSpPr>
        <p:spPr>
          <a:xfrm>
            <a:off x="960120" y="2743200"/>
            <a:ext cx="2971800" cy="251460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b="1">
                <a:solidFill>
                  <a:srgbClr val="F8FAFC"/>
                </a:solidFill>
                <a:latin typeface="Aptos"/>
              </a:rPr>
              <a:t>Streamlit Web Dashboard: </a:t>
            </a:r>
            <a:r>
              <a:rPr sz="950">
                <a:solidFill>
                  <a:srgbClr val="94A3B8"/>
                </a:solidFill>
                <a:latin typeface="Aptos"/>
              </a:rPr>
              <a:t>Interactive UI for analyst research prompt submission and live visual feedback.</a:t>
            </a:r>
          </a:p>
          <a:p>
            <a:pPr>
              <a:spcBef>
                <a:spcPts val="800"/>
              </a:spcBef>
            </a:pPr>
            <a:r>
              <a:rPr sz="1000" b="1">
                <a:solidFill>
                  <a:srgbClr val="26E5E8"/>
                </a:solidFill>
                <a:latin typeface="Aptos"/>
              </a:rPr>
              <a:t>• </a:t>
            </a:r>
            <a:r>
              <a:rPr sz="950" b="1">
                <a:solidFill>
                  <a:srgbClr val="F8FAFC"/>
                </a:solidFill>
                <a:latin typeface="Aptos"/>
              </a:rPr>
              <a:t>Agent Orchestrator: </a:t>
            </a:r>
            <a:r>
              <a:rPr sz="950">
                <a:solidFill>
                  <a:srgbClr val="94A3B8"/>
                </a:solidFill>
                <a:latin typeface="Aptos"/>
              </a:rPr>
              <a:t>Decomposes research requests into targeted search terms and browsing strategies.</a:t>
            </a:r>
          </a:p>
          <a:p>
            <a:pPr>
              <a:spcBef>
                <a:spcPts val="800"/>
              </a:spcBef>
            </a:pPr>
            <a:r>
              <a:rPr sz="1000" b="1">
                <a:solidFill>
                  <a:srgbClr val="26E5E8"/>
                </a:solidFill>
                <a:latin typeface="Aptos"/>
              </a:rPr>
              <a:t>• </a:t>
            </a:r>
            <a:r>
              <a:rPr sz="950" b="1">
                <a:solidFill>
                  <a:srgbClr val="F8FAFC"/>
                </a:solidFill>
                <a:latin typeface="Aptos"/>
              </a:rPr>
              <a:t>TinyFish Search &amp; Fetch APIs: </a:t>
            </a:r>
            <a:r>
              <a:rPr sz="950">
                <a:solidFill>
                  <a:srgbClr val="94A3B8"/>
                </a:solidFill>
                <a:latin typeface="Aptos"/>
              </a:rPr>
              <a:t>Discovers live URLs, fetches raw HTML, and extracts clean markdown.</a:t>
            </a:r>
          </a:p>
          <a:p>
            <a:pPr>
              <a:spcBef>
                <a:spcPts val="800"/>
              </a:spcBef>
            </a:pPr>
            <a:r>
              <a:rPr sz="1000" b="1">
                <a:solidFill>
                  <a:srgbClr val="26E5E8"/>
                </a:solidFill>
                <a:latin typeface="Aptos"/>
              </a:rPr>
              <a:t>• </a:t>
            </a:r>
            <a:r>
              <a:rPr sz="950" b="1">
                <a:solidFill>
                  <a:srgbClr val="F8FAFC"/>
                </a:solidFill>
                <a:latin typeface="Aptos"/>
              </a:rPr>
              <a:t>TinyFish Multi-Step Agent: </a:t>
            </a:r>
            <a:r>
              <a:rPr sz="950">
                <a:solidFill>
                  <a:srgbClr val="94A3B8"/>
                </a:solidFill>
                <a:latin typeface="Aptos"/>
              </a:rPr>
              <a:t>Executes headless Chromium sessions for deep JS interaction and form submissions.</a:t>
            </a:r>
          </a:p>
        </p:txBody>
      </p:sp>
      <p:sp>
        <p:nvSpPr>
          <p:cNvPr id="11" name="Rounded Rectangle 10"/>
          <p:cNvSpPr/>
          <p:nvPr/>
        </p:nvSpPr>
        <p:spPr>
          <a:xfrm>
            <a:off x="4425696"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25696" y="1828800"/>
            <a:ext cx="73152" cy="356616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2971800" cy="640080"/>
          </a:xfrm>
          <a:prstGeom prst="rect">
            <a:avLst/>
          </a:prstGeom>
          <a:noFill/>
        </p:spPr>
        <p:txBody>
          <a:bodyPr wrap="square" lIns="0" tIns="0" rIns="0" bIns="0">
            <a:spAutoFit/>
          </a:bodyPr>
          <a:lstStyle/>
          <a:p>
            <a:pPr>
              <a:defRPr sz="900" b="1">
                <a:solidFill>
                  <a:srgbClr val="4ADE80"/>
                </a:solidFill>
                <a:latin typeface="Aptos"/>
              </a:defRPr>
            </a:pPr>
            <a:r>
              <a:t>TIER 2 • REASONING &amp; SCHEMA CORE</a:t>
            </a:r>
          </a:p>
          <a:p>
            <a:pPr>
              <a:spcBef>
                <a:spcPts val="300"/>
              </a:spcBef>
              <a:defRPr sz="1300" b="1">
                <a:solidFill>
                  <a:srgbClr val="F8FAFC"/>
                </a:solidFill>
                <a:latin typeface="Aptos"/>
              </a:defRPr>
            </a:pPr>
            <a:r>
              <a:t>Pydantic Verification Layer</a:t>
            </a:r>
          </a:p>
        </p:txBody>
      </p:sp>
      <p:sp>
        <p:nvSpPr>
          <p:cNvPr id="14" name="TextBox 13"/>
          <p:cNvSpPr txBox="1"/>
          <p:nvPr/>
        </p:nvSpPr>
        <p:spPr>
          <a:xfrm>
            <a:off x="4654296" y="2743200"/>
            <a:ext cx="2971800" cy="2514600"/>
          </a:xfrm>
          <a:prstGeom prst="rect">
            <a:avLst/>
          </a:prstGeom>
          <a:noFill/>
        </p:spPr>
        <p:txBody>
          <a:bodyPr wrap="square" lIns="0" tIns="0" rIns="0" bIns="0">
            <a:spAutoFit/>
          </a:bodyPr>
          <a:lstStyle/>
          <a:p>
            <a:pPr>
              <a:spcBef>
                <a:spcPts val="0"/>
              </a:spcBef>
            </a:pPr>
            <a:r>
              <a:rPr sz="1000" b="1">
                <a:solidFill>
                  <a:srgbClr val="4ADE80"/>
                </a:solidFill>
                <a:latin typeface="Aptos"/>
              </a:rPr>
              <a:t>• </a:t>
            </a:r>
            <a:r>
              <a:rPr sz="950" b="1">
                <a:solidFill>
                  <a:srgbClr val="F8FAFC"/>
                </a:solidFill>
                <a:latin typeface="Aptos"/>
              </a:rPr>
              <a:t>LLM Reasoning Core: </a:t>
            </a:r>
            <a:r>
              <a:rPr sz="950">
                <a:solidFill>
                  <a:srgbClr val="94A3B8"/>
                </a:solidFill>
                <a:latin typeface="Aptos"/>
              </a:rPr>
              <a:t>High-precision entity extraction and evidence synthesis powered by GPT-4o / Claude 3.5.</a:t>
            </a:r>
          </a:p>
          <a:p>
            <a:pPr>
              <a:spcBef>
                <a:spcPts val="800"/>
              </a:spcBef>
            </a:pPr>
            <a:r>
              <a:rPr sz="1000" b="1">
                <a:solidFill>
                  <a:srgbClr val="4ADE80"/>
                </a:solidFill>
                <a:latin typeface="Aptos"/>
              </a:rPr>
              <a:t>• </a:t>
            </a:r>
            <a:r>
              <a:rPr sz="950" b="1">
                <a:solidFill>
                  <a:srgbClr val="F8FAFC"/>
                </a:solidFill>
                <a:latin typeface="Aptos"/>
              </a:rPr>
              <a:t>Pydantic Contract Enforcement: </a:t>
            </a:r>
            <a:r>
              <a:rPr sz="950">
                <a:solidFill>
                  <a:srgbClr val="94A3B8"/>
                </a:solidFill>
                <a:latin typeface="Aptos"/>
              </a:rPr>
              <a:t>Forces structured outputs: verified event date, ticker, excerpt quote, and audited source URL.</a:t>
            </a:r>
          </a:p>
          <a:p>
            <a:pPr>
              <a:spcBef>
                <a:spcPts val="800"/>
              </a:spcBef>
            </a:pPr>
            <a:r>
              <a:rPr sz="1000" b="1">
                <a:solidFill>
                  <a:srgbClr val="4ADE80"/>
                </a:solidFill>
                <a:latin typeface="Aptos"/>
              </a:rPr>
              <a:t>• </a:t>
            </a:r>
            <a:r>
              <a:rPr sz="950" b="1">
                <a:solidFill>
                  <a:srgbClr val="F8FAFC"/>
                </a:solidFill>
                <a:latin typeface="Aptos"/>
              </a:rPr>
              <a:t>Hypothesis Formulation Engine: </a:t>
            </a:r>
            <a:r>
              <a:rPr sz="950">
                <a:solidFill>
                  <a:srgbClr val="94A3B8"/>
                </a:solidFill>
                <a:latin typeface="Aptos"/>
              </a:rPr>
              <a:t>Translates qualitative event context into mathematically falsifiable null (H0) and alternative (H1) hypotheses.</a:t>
            </a:r>
          </a:p>
          <a:p>
            <a:pPr>
              <a:spcBef>
                <a:spcPts val="800"/>
              </a:spcBef>
            </a:pPr>
            <a:r>
              <a:rPr sz="1000" b="1">
                <a:solidFill>
                  <a:srgbClr val="4ADE80"/>
                </a:solidFill>
                <a:latin typeface="Aptos"/>
              </a:rPr>
              <a:t>• </a:t>
            </a:r>
            <a:r>
              <a:rPr sz="950" b="1">
                <a:solidFill>
                  <a:srgbClr val="F8FAFC"/>
                </a:solidFill>
                <a:latin typeface="Aptos"/>
              </a:rPr>
              <a:t>Audit Trail Graph: </a:t>
            </a:r>
            <a:r>
              <a:rPr sz="950">
                <a:solidFill>
                  <a:srgbClr val="94A3B8"/>
                </a:solidFill>
                <a:latin typeface="Aptos"/>
              </a:rPr>
              <a:t>Maintains provenance linking every data point directly to its original TinyFish fetch URL.</a:t>
            </a:r>
          </a:p>
        </p:txBody>
      </p:sp>
      <p:sp>
        <p:nvSpPr>
          <p:cNvPr id="15" name="Rounded Rectangle 14"/>
          <p:cNvSpPr/>
          <p:nvPr/>
        </p:nvSpPr>
        <p:spPr>
          <a:xfrm>
            <a:off x="8119872"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9872" y="1828800"/>
            <a:ext cx="73152" cy="356616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965960"/>
            <a:ext cx="2971800" cy="640080"/>
          </a:xfrm>
          <a:prstGeom prst="rect">
            <a:avLst/>
          </a:prstGeom>
          <a:noFill/>
        </p:spPr>
        <p:txBody>
          <a:bodyPr wrap="square" lIns="0" tIns="0" rIns="0" bIns="0">
            <a:spAutoFit/>
          </a:bodyPr>
          <a:lstStyle/>
          <a:p>
            <a:pPr>
              <a:defRPr sz="900" b="1">
                <a:solidFill>
                  <a:srgbClr val="FBBF24"/>
                </a:solidFill>
                <a:latin typeface="Aptos"/>
              </a:defRPr>
            </a:pPr>
            <a:r>
              <a:t>TIER 3 • DETERMINISTIC EXECUTION</a:t>
            </a:r>
          </a:p>
          <a:p>
            <a:pPr>
              <a:spcBef>
                <a:spcPts val="300"/>
              </a:spcBef>
              <a:defRPr sz="1300" b="1">
                <a:solidFill>
                  <a:srgbClr val="F8FAFC"/>
                </a:solidFill>
                <a:latin typeface="Aptos"/>
              </a:defRPr>
            </a:pPr>
            <a:r>
              <a:t>Python Quant Sandbox</a:t>
            </a:r>
          </a:p>
        </p:txBody>
      </p:sp>
      <p:sp>
        <p:nvSpPr>
          <p:cNvPr id="18" name="TextBox 17"/>
          <p:cNvSpPr txBox="1"/>
          <p:nvPr/>
        </p:nvSpPr>
        <p:spPr>
          <a:xfrm>
            <a:off x="8348472" y="2743200"/>
            <a:ext cx="2971800" cy="251460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b="1">
                <a:solidFill>
                  <a:srgbClr val="F8FAFC"/>
                </a:solidFill>
                <a:latin typeface="Aptos"/>
              </a:rPr>
              <a:t>Sandboxed Python Runtime: </a:t>
            </a:r>
            <a:r>
              <a:rPr sz="950">
                <a:solidFill>
                  <a:srgbClr val="94A3B8"/>
                </a:solidFill>
                <a:latin typeface="Aptos"/>
              </a:rPr>
              <a:t>Isolated execution environment (no external network or arbitrary code execution risks).</a:t>
            </a:r>
          </a:p>
          <a:p>
            <a:pPr>
              <a:spcBef>
                <a:spcPts val="800"/>
              </a:spcBef>
            </a:pPr>
            <a:r>
              <a:rPr sz="1000" b="1">
                <a:solidFill>
                  <a:srgbClr val="FBBF24"/>
                </a:solidFill>
                <a:latin typeface="Aptos"/>
              </a:rPr>
              <a:t>• </a:t>
            </a:r>
            <a:r>
              <a:rPr sz="950" b="1">
                <a:solidFill>
                  <a:srgbClr val="F8FAFC"/>
                </a:solidFill>
                <a:latin typeface="Aptos"/>
              </a:rPr>
              <a:t>Historical Market Data: </a:t>
            </a:r>
            <a:r>
              <a:rPr sz="950">
                <a:solidFill>
                  <a:srgbClr val="94A3B8"/>
                </a:solidFill>
                <a:latin typeface="Aptos"/>
              </a:rPr>
              <a:t>Queries yfinance / Alpaca APIs for split-adjusted historical OHLCV pricing.</a:t>
            </a:r>
          </a:p>
          <a:p>
            <a:pPr>
              <a:spcBef>
                <a:spcPts val="800"/>
              </a:spcBef>
            </a:pPr>
            <a:r>
              <a:rPr sz="1000" b="1">
                <a:solidFill>
                  <a:srgbClr val="FBBF24"/>
                </a:solidFill>
                <a:latin typeface="Aptos"/>
              </a:rPr>
              <a:t>• </a:t>
            </a:r>
            <a:r>
              <a:rPr sz="950" b="1">
                <a:solidFill>
                  <a:srgbClr val="F8FAFC"/>
                </a:solidFill>
                <a:latin typeface="Aptos"/>
              </a:rPr>
              <a:t>Event-Study Model Engine: </a:t>
            </a:r>
            <a:r>
              <a:rPr sz="950">
                <a:solidFill>
                  <a:srgbClr val="94A3B8"/>
                </a:solidFill>
                <a:latin typeface="Aptos"/>
              </a:rPr>
              <a:t>Computes Cumulative Abnormal Returns (CAR), volume surge z-scores, and t-test p-values.</a:t>
            </a:r>
          </a:p>
          <a:p>
            <a:pPr>
              <a:spcBef>
                <a:spcPts val="800"/>
              </a:spcBef>
            </a:pPr>
            <a:r>
              <a:rPr sz="1000" b="1">
                <a:solidFill>
                  <a:srgbClr val="FBBF24"/>
                </a:solidFill>
                <a:latin typeface="Aptos"/>
              </a:rPr>
              <a:t>• </a:t>
            </a:r>
            <a:r>
              <a:rPr sz="950" b="1">
                <a:solidFill>
                  <a:srgbClr val="F8FAFC"/>
                </a:solidFill>
                <a:latin typeface="Aptos"/>
              </a:rPr>
              <a:t>Visual Research Brief: </a:t>
            </a:r>
            <a:r>
              <a:rPr sz="950">
                <a:solidFill>
                  <a:srgbClr val="94A3B8"/>
                </a:solidFill>
                <a:latin typeface="Aptos"/>
              </a:rPr>
              <a:t>Outputs interactive Matplotlib/Plotly figures and downloadable markdown summaries.</a:t>
            </a:r>
          </a:p>
        </p:txBody>
      </p:sp>
      <p:sp>
        <p:nvSpPr>
          <p:cNvPr id="19" name="Rounded Rectangle 18"/>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669280"/>
            <a:ext cx="73152" cy="64008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15000"/>
            <a:ext cx="10241280" cy="548640"/>
          </a:xfrm>
          <a:prstGeom prst="rect">
            <a:avLst/>
          </a:prstGeom>
          <a:noFill/>
        </p:spPr>
        <p:txBody>
          <a:bodyPr wrap="square" lIns="0" tIns="0" rIns="0" bIns="0">
            <a:spAutoFit/>
          </a:bodyPr>
          <a:lstStyle/>
          <a:p>
            <a:r>
              <a:rPr sz="1050" b="1">
                <a:solidFill>
                  <a:srgbClr val="4ADE80"/>
                </a:solidFill>
                <a:latin typeface="Aptos"/>
              </a:rPr>
              <a:t>SECURITY &amp; DATA FIDELITY: </a:t>
            </a:r>
            <a:r>
              <a:rPr sz="1000">
                <a:solidFill>
                  <a:srgbClr val="CBD5E1"/>
                </a:solidFill>
                <a:latin typeface="Aptos"/>
              </a:rPr>
              <a:t>Python execution is strictly sandboxed with read-only market data connectors. No live broker API keys or trade execution capabilities are included, ensuring zero financial execution hazard or unauthorized code execution.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06 • MARKET ADVANTAGE</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Competitive Matrix &amp; Defensibility</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QuantIntel occupies a unique white space between general AI chatbots and rigid quant platforms.</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07</a:t>
            </a:r>
          </a:p>
        </p:txBody>
      </p:sp>
      <p:graphicFrame>
        <p:nvGraphicFramePr>
          <p:cNvPr id="7" name="Table 6"/>
          <p:cNvGraphicFramePr>
            <a:graphicFrameLocks noGrp="1"/>
          </p:cNvGraphicFramePr>
          <p:nvPr/>
        </p:nvGraphicFramePr>
        <p:xfrm>
          <a:off x="731520" y="1783080"/>
          <a:ext cx="10728655" cy="3657600"/>
        </p:xfrm>
        <a:graphic>
          <a:graphicData uri="http://schemas.openxmlformats.org/drawingml/2006/table">
            <a:tbl>
              <a:tblPr firstRow="1" bandRow="1">
                <a:tableStyleId>{5C22544A-7EE6-4342-B048-85BDC9FD1C3A}</a:tableStyleId>
              </a:tblPr>
              <a:tblGrid>
                <a:gridCol w="2133295"/>
                <a:gridCol w="2103120"/>
                <a:gridCol w="2103120"/>
                <a:gridCol w="2103120"/>
                <a:gridCol w="2286000"/>
              </a:tblGrid>
              <a:tr h="522514">
                <a:tc>
                  <a:txBody>
                    <a:bodyPr wrap="square" lIns="109728" rIns="109728" tIns="73152" bIns="73152"/>
                    <a:lstStyle/>
                    <a:p>
                      <a:pPr algn="l">
                        <a:defRPr sz="1050" b="1">
                          <a:solidFill>
                            <a:srgbClr val="F8FAFC"/>
                          </a:solidFill>
                          <a:latin typeface="Aptos"/>
                        </a:defRPr>
                      </a:pPr>
                      <a:r>
                        <a:t>Key Capabilities</a:t>
                      </a:r>
                    </a:p>
                  </a:txBody>
                  <a:tcPr>
                    <a:solidFill>
                      <a:srgbClr val="182744"/>
                    </a:solidFill>
                  </a:tcPr>
                </a:tc>
                <a:tc>
                  <a:txBody>
                    <a:bodyPr wrap="square" lIns="109728" rIns="109728" tIns="73152" bIns="73152"/>
                    <a:lstStyle/>
                    <a:p>
                      <a:pPr algn="ctr">
                        <a:defRPr sz="1050" b="1">
                          <a:solidFill>
                            <a:srgbClr val="F8FAFC"/>
                          </a:solidFill>
                          <a:latin typeface="Aptos"/>
                        </a:defRPr>
                      </a:pPr>
                      <a:r>
                        <a:t>General LLMs</a:t>
                      </a:r>
                      <a:br/>
                      <a:r>
                        <a:t>(ChatGPT / Claude)</a:t>
                      </a:r>
                    </a:p>
                  </a:txBody>
                  <a:tcPr>
                    <a:solidFill>
                      <a:srgbClr val="182744"/>
                    </a:solidFill>
                  </a:tcPr>
                </a:tc>
                <a:tc>
                  <a:txBody>
                    <a:bodyPr wrap="square" lIns="109728" rIns="109728" tIns="73152" bIns="73152"/>
                    <a:lstStyle/>
                    <a:p>
                      <a:pPr algn="ctr">
                        <a:defRPr sz="1050" b="1">
                          <a:solidFill>
                            <a:srgbClr val="F8FAFC"/>
                          </a:solidFill>
                          <a:latin typeface="Aptos"/>
                        </a:defRPr>
                      </a:pPr>
                      <a:r>
                        <a:t>Search Engines</a:t>
                      </a:r>
                      <a:br/>
                      <a:r>
                        <a:t>(Perplexity / Google)</a:t>
                      </a:r>
                    </a:p>
                  </a:txBody>
                  <a:tcPr>
                    <a:solidFill>
                      <a:srgbClr val="182744"/>
                    </a:solidFill>
                  </a:tcPr>
                </a:tc>
                <a:tc>
                  <a:txBody>
                    <a:bodyPr wrap="square" lIns="109728" rIns="109728" tIns="73152" bIns="73152"/>
                    <a:lstStyle/>
                    <a:p>
                      <a:pPr algn="ctr">
                        <a:defRPr sz="1050" b="1">
                          <a:solidFill>
                            <a:srgbClr val="F8FAFC"/>
                          </a:solidFill>
                          <a:latin typeface="Aptos"/>
                        </a:defRPr>
                      </a:pPr>
                      <a:r>
                        <a:t>Quant Platforms</a:t>
                      </a:r>
                      <a:br/>
                      <a:r>
                        <a:t>(QuantConnect / LEAN)</a:t>
                      </a:r>
                    </a:p>
                  </a:txBody>
                  <a:tcPr>
                    <a:solidFill>
                      <a:srgbClr val="182744"/>
                    </a:solidFill>
                  </a:tcPr>
                </a:tc>
                <a:tc>
                  <a:txBody>
                    <a:bodyPr wrap="square" lIns="109728" rIns="109728" tIns="73152" bIns="73152"/>
                    <a:lstStyle/>
                    <a:p>
                      <a:pPr algn="ctr">
                        <a:defRPr sz="1050" b="1">
                          <a:solidFill>
                            <a:srgbClr val="26E5E8"/>
                          </a:solidFill>
                          <a:latin typeface="Aptos"/>
                        </a:defRPr>
                      </a:pPr>
                      <a:r>
                        <a:t>QuantIntel</a:t>
                      </a:r>
                      <a:br/>
                      <a:r>
                        <a:t>(Our Solution)</a:t>
                      </a:r>
                    </a:p>
                  </a:txBody>
                  <a:tcPr>
                    <a:solidFill>
                      <a:srgbClr val="182744"/>
                    </a:solidFill>
                  </a:tcPr>
                </a:tc>
              </a:tr>
              <a:tr h="522514">
                <a:tc>
                  <a:txBody>
                    <a:bodyPr wrap="square" lIns="109728" rIns="109728" tIns="73152" bIns="73152"/>
                    <a:lstStyle/>
                    <a:p>
                      <a:pPr algn="l">
                        <a:defRPr sz="950">
                          <a:solidFill>
                            <a:srgbClr val="CBD5E1"/>
                          </a:solidFill>
                          <a:latin typeface="Aptos"/>
                        </a:defRPr>
                      </a:pPr>
                      <a:r>
                        <a:t>Live Web Navigation</a:t>
                      </a:r>
                    </a:p>
                  </a:txBody>
                  <a:tcPr>
                    <a:solidFill>
                      <a:srgbClr val="131F37"/>
                    </a:solidFill>
                  </a:tcPr>
                </a:tc>
                <a:tc>
                  <a:txBody>
                    <a:bodyPr wrap="square" lIns="109728" rIns="109728" tIns="73152" bIns="73152"/>
                    <a:lstStyle/>
                    <a:p>
                      <a:pPr algn="ctr">
                        <a:defRPr sz="950">
                          <a:solidFill>
                            <a:srgbClr val="F87171"/>
                          </a:solidFill>
                          <a:latin typeface="Aptos"/>
                        </a:defRPr>
                      </a:pPr>
                      <a:r>
                        <a:t>❌ Static Weights (Cutoff)</a:t>
                      </a:r>
                    </a:p>
                  </a:txBody>
                  <a:tcPr>
                    <a:solidFill>
                      <a:srgbClr val="131F37"/>
                    </a:solidFill>
                  </a:tcPr>
                </a:tc>
                <a:tc>
                  <a:txBody>
                    <a:bodyPr wrap="square" lIns="109728" rIns="109728" tIns="73152" bIns="73152"/>
                    <a:lstStyle/>
                    <a:p>
                      <a:pPr algn="ctr">
                        <a:defRPr sz="950">
                          <a:solidFill>
                            <a:srgbClr val="FBBF24"/>
                          </a:solidFill>
                          <a:latin typeface="Aptos"/>
                        </a:defRPr>
                      </a:pPr>
                      <a:r>
                        <a:t>⚠️ Basic Web Search Only</a:t>
                      </a:r>
                    </a:p>
                  </a:txBody>
                  <a:tcPr>
                    <a:solidFill>
                      <a:srgbClr val="131F37"/>
                    </a:solidFill>
                  </a:tcPr>
                </a:tc>
                <a:tc>
                  <a:txBody>
                    <a:bodyPr wrap="square" lIns="109728" rIns="109728" tIns="73152" bIns="73152"/>
                    <a:lstStyle/>
                    <a:p>
                      <a:pPr algn="ctr">
                        <a:defRPr sz="950">
                          <a:solidFill>
                            <a:srgbClr val="F87171"/>
                          </a:solidFill>
                          <a:latin typeface="Aptos"/>
                        </a:defRPr>
                      </a:pPr>
                      <a:r>
                        <a:t>❌ None (Data must be uploaded)</a:t>
                      </a:r>
                    </a:p>
                  </a:txBody>
                  <a:tcPr>
                    <a:solidFill>
                      <a:srgbClr val="131F37"/>
                    </a:solidFill>
                  </a:tcPr>
                </a:tc>
                <a:tc>
                  <a:txBody>
                    <a:bodyPr wrap="square" lIns="109728" rIns="109728" tIns="73152" bIns="73152"/>
                    <a:lstStyle/>
                    <a:p>
                      <a:pPr algn="ctr">
                        <a:defRPr sz="950" b="1">
                          <a:solidFill>
                            <a:srgbClr val="4ADE80"/>
                          </a:solidFill>
                          <a:latin typeface="Aptos"/>
                        </a:defRPr>
                      </a:pPr>
                      <a:r>
                        <a:t>✅ Native TinyFish Agent</a:t>
                      </a:r>
                    </a:p>
                  </a:txBody>
                  <a:tcPr>
                    <a:solidFill>
                      <a:srgbClr val="132A48"/>
                    </a:solidFill>
                  </a:tcPr>
                </a:tc>
              </a:tr>
              <a:tr h="522514">
                <a:tc>
                  <a:txBody>
                    <a:bodyPr wrap="square" lIns="109728" rIns="109728" tIns="73152" bIns="73152"/>
                    <a:lstStyle/>
                    <a:p>
                      <a:pPr algn="l">
                        <a:defRPr sz="950">
                          <a:solidFill>
                            <a:srgbClr val="CBD5E1"/>
                          </a:solidFill>
                          <a:latin typeface="Aptos"/>
                        </a:defRPr>
                      </a:pPr>
                      <a:r>
                        <a:t>Dynamic JS &amp; Anti-Bot</a:t>
                      </a:r>
                    </a:p>
                  </a:txBody>
                  <a:tcPr>
                    <a:solidFill>
                      <a:srgbClr val="101A30"/>
                    </a:solidFill>
                  </a:tcPr>
                </a:tc>
                <a:tc>
                  <a:txBody>
                    <a:bodyPr wrap="square" lIns="109728" rIns="109728" tIns="73152" bIns="73152"/>
                    <a:lstStyle/>
                    <a:p>
                      <a:pPr algn="ctr">
                        <a:defRPr sz="950">
                          <a:solidFill>
                            <a:srgbClr val="F87171"/>
                          </a:solidFill>
                          <a:latin typeface="Aptos"/>
                        </a:defRPr>
                      </a:pPr>
                      <a:r>
                        <a:t>❌ Cannot interact</a:t>
                      </a:r>
                    </a:p>
                  </a:txBody>
                  <a:tcPr>
                    <a:solidFill>
                      <a:srgbClr val="101A30"/>
                    </a:solidFill>
                  </a:tcPr>
                </a:tc>
                <a:tc>
                  <a:txBody>
                    <a:bodyPr wrap="square" lIns="109728" rIns="109728" tIns="73152" bIns="73152"/>
                    <a:lstStyle/>
                    <a:p>
                      <a:pPr algn="ctr">
                        <a:defRPr sz="950">
                          <a:solidFill>
                            <a:srgbClr val="F87171"/>
                          </a:solidFill>
                          <a:latin typeface="Aptos"/>
                        </a:defRPr>
                      </a:pPr>
                      <a:r>
                        <a:t>❌ Fails on complex SPAs</a:t>
                      </a:r>
                    </a:p>
                  </a:txBody>
                  <a:tcPr>
                    <a:solidFill>
                      <a:srgbClr val="101A30"/>
                    </a:solidFill>
                  </a:tcPr>
                </a:tc>
                <a:tc>
                  <a:txBody>
                    <a:bodyPr wrap="square" lIns="109728" rIns="109728" tIns="73152" bIns="73152"/>
                    <a:lstStyle/>
                    <a:p>
                      <a:pPr algn="ctr">
                        <a:defRPr sz="950">
                          <a:solidFill>
                            <a:srgbClr val="F87171"/>
                          </a:solidFill>
                          <a:latin typeface="Aptos"/>
                        </a:defRPr>
                      </a:pPr>
                      <a:r>
                        <a:t>❌ N/A</a:t>
                      </a:r>
                    </a:p>
                  </a:txBody>
                  <a:tcPr>
                    <a:solidFill>
                      <a:srgbClr val="101A30"/>
                    </a:solidFill>
                  </a:tcPr>
                </a:tc>
                <a:tc>
                  <a:txBody>
                    <a:bodyPr wrap="square" lIns="109728" rIns="109728" tIns="73152" bIns="73152"/>
                    <a:lstStyle/>
                    <a:p>
                      <a:pPr algn="ctr">
                        <a:defRPr sz="950" b="1">
                          <a:solidFill>
                            <a:srgbClr val="4ADE80"/>
                          </a:solidFill>
                          <a:latin typeface="Aptos"/>
                        </a:defRPr>
                      </a:pPr>
                      <a:r>
                        <a:t>✅ Full Chromium Browser Fleet</a:t>
                      </a:r>
                    </a:p>
                  </a:txBody>
                  <a:tcPr>
                    <a:solidFill>
                      <a:srgbClr val="132A48"/>
                    </a:solidFill>
                  </a:tcPr>
                </a:tc>
              </a:tr>
              <a:tr h="522514">
                <a:tc>
                  <a:txBody>
                    <a:bodyPr wrap="square" lIns="109728" rIns="109728" tIns="73152" bIns="73152"/>
                    <a:lstStyle/>
                    <a:p>
                      <a:pPr algn="l">
                        <a:defRPr sz="950">
                          <a:solidFill>
                            <a:srgbClr val="CBD5E1"/>
                          </a:solidFill>
                          <a:latin typeface="Aptos"/>
                        </a:defRPr>
                      </a:pPr>
                      <a:r>
                        <a:t>Source Provenance</a:t>
                      </a:r>
                    </a:p>
                  </a:txBody>
                  <a:tcPr>
                    <a:solidFill>
                      <a:srgbClr val="131F37"/>
                    </a:solidFill>
                  </a:tcPr>
                </a:tc>
                <a:tc>
                  <a:txBody>
                    <a:bodyPr wrap="square" lIns="109728" rIns="109728" tIns="73152" bIns="73152"/>
                    <a:lstStyle/>
                    <a:p>
                      <a:pPr algn="ctr">
                        <a:defRPr sz="950">
                          <a:solidFill>
                            <a:srgbClr val="F87171"/>
                          </a:solidFill>
                          <a:latin typeface="Aptos"/>
                        </a:defRPr>
                      </a:pPr>
                      <a:r>
                        <a:t>❌ Unaudited / Hallucinated</a:t>
                      </a:r>
                    </a:p>
                  </a:txBody>
                  <a:tcPr>
                    <a:solidFill>
                      <a:srgbClr val="131F37"/>
                    </a:solidFill>
                  </a:tcPr>
                </a:tc>
                <a:tc>
                  <a:txBody>
                    <a:bodyPr wrap="square" lIns="109728" rIns="109728" tIns="73152" bIns="73152"/>
                    <a:lstStyle/>
                    <a:p>
                      <a:pPr algn="ctr">
                        <a:defRPr sz="950">
                          <a:solidFill>
                            <a:srgbClr val="FBBF24"/>
                          </a:solidFill>
                          <a:latin typeface="Aptos"/>
                        </a:defRPr>
                      </a:pPr>
                      <a:r>
                        <a:t>⚠️ Text Citations Only</a:t>
                      </a:r>
                    </a:p>
                  </a:txBody>
                  <a:tcPr>
                    <a:solidFill>
                      <a:srgbClr val="131F37"/>
                    </a:solidFill>
                  </a:tcPr>
                </a:tc>
                <a:tc>
                  <a:txBody>
                    <a:bodyPr wrap="square" lIns="109728" rIns="109728" tIns="73152" bIns="73152"/>
                    <a:lstStyle/>
                    <a:p>
                      <a:pPr algn="ctr">
                        <a:defRPr sz="950">
                          <a:solidFill>
                            <a:srgbClr val="F87171"/>
                          </a:solidFill>
                          <a:latin typeface="Aptos"/>
                        </a:defRPr>
                      </a:pPr>
                      <a:r>
                        <a:t>❌ None</a:t>
                      </a:r>
                    </a:p>
                  </a:txBody>
                  <a:tcPr>
                    <a:solidFill>
                      <a:srgbClr val="131F37"/>
                    </a:solidFill>
                  </a:tcPr>
                </a:tc>
                <a:tc>
                  <a:txBody>
                    <a:bodyPr wrap="square" lIns="109728" rIns="109728" tIns="73152" bIns="73152"/>
                    <a:lstStyle/>
                    <a:p>
                      <a:pPr algn="ctr">
                        <a:defRPr sz="950" b="1">
                          <a:solidFill>
                            <a:srgbClr val="4ADE80"/>
                          </a:solidFill>
                          <a:latin typeface="Aptos"/>
                        </a:defRPr>
                      </a:pPr>
                      <a:r>
                        <a:t>✅ Exact Quotes &amp; Sourced URLs</a:t>
                      </a:r>
                    </a:p>
                  </a:txBody>
                  <a:tcPr>
                    <a:solidFill>
                      <a:srgbClr val="132A48"/>
                    </a:solidFill>
                  </a:tcPr>
                </a:tc>
              </a:tr>
              <a:tr h="522514">
                <a:tc>
                  <a:txBody>
                    <a:bodyPr wrap="square" lIns="109728" rIns="109728" tIns="73152" bIns="73152"/>
                    <a:lstStyle/>
                    <a:p>
                      <a:pPr algn="l">
                        <a:defRPr sz="950">
                          <a:solidFill>
                            <a:srgbClr val="CBD5E1"/>
                          </a:solidFill>
                          <a:latin typeface="Aptos"/>
                        </a:defRPr>
                      </a:pPr>
                      <a:r>
                        <a:t>Mathematical Precision</a:t>
                      </a:r>
                    </a:p>
                  </a:txBody>
                  <a:tcPr>
                    <a:solidFill>
                      <a:srgbClr val="101A30"/>
                    </a:solidFill>
                  </a:tcPr>
                </a:tc>
                <a:tc>
                  <a:txBody>
                    <a:bodyPr wrap="square" lIns="109728" rIns="109728" tIns="73152" bIns="73152"/>
                    <a:lstStyle/>
                    <a:p>
                      <a:pPr algn="ctr">
                        <a:defRPr sz="950">
                          <a:solidFill>
                            <a:srgbClr val="F87171"/>
                          </a:solidFill>
                          <a:latin typeface="Aptos"/>
                        </a:defRPr>
                      </a:pPr>
                      <a:r>
                        <a:t>❌ Hallucinates Arithmetic</a:t>
                      </a:r>
                    </a:p>
                  </a:txBody>
                  <a:tcPr>
                    <a:solidFill>
                      <a:srgbClr val="101A30"/>
                    </a:solidFill>
                  </a:tcPr>
                </a:tc>
                <a:tc>
                  <a:txBody>
                    <a:bodyPr wrap="square" lIns="109728" rIns="109728" tIns="73152" bIns="73152"/>
                    <a:lstStyle/>
                    <a:p>
                      <a:pPr algn="ctr">
                        <a:defRPr sz="950">
                          <a:solidFill>
                            <a:srgbClr val="F87171"/>
                          </a:solidFill>
                          <a:latin typeface="Aptos"/>
                        </a:defRPr>
                      </a:pPr>
                      <a:r>
                        <a:t>❌ Hallucinates Math</a:t>
                      </a:r>
                    </a:p>
                  </a:txBody>
                  <a:tcPr>
                    <a:solidFill>
                      <a:srgbClr val="101A30"/>
                    </a:solidFill>
                  </a:tcPr>
                </a:tc>
                <a:tc>
                  <a:txBody>
                    <a:bodyPr wrap="square" lIns="109728" rIns="109728" tIns="73152" bIns="73152"/>
                    <a:lstStyle/>
                    <a:p>
                      <a:pPr algn="ctr">
                        <a:defRPr sz="950">
                          <a:solidFill>
                            <a:srgbClr val="CBD5E1"/>
                          </a:solidFill>
                          <a:latin typeface="Aptos"/>
                        </a:defRPr>
                      </a:pPr>
                      <a:r>
                        <a:t>✅ Deterministic Code</a:t>
                      </a:r>
                    </a:p>
                  </a:txBody>
                  <a:tcPr>
                    <a:solidFill>
                      <a:srgbClr val="101A30"/>
                    </a:solidFill>
                  </a:tcPr>
                </a:tc>
                <a:tc>
                  <a:txBody>
                    <a:bodyPr wrap="square" lIns="109728" rIns="109728" tIns="73152" bIns="73152"/>
                    <a:lstStyle/>
                    <a:p>
                      <a:pPr algn="ctr">
                        <a:defRPr sz="950" b="1">
                          <a:solidFill>
                            <a:srgbClr val="4ADE80"/>
                          </a:solidFill>
                          <a:latin typeface="Aptos"/>
                        </a:defRPr>
                      </a:pPr>
                      <a:r>
                        <a:t>✅ Sandboxed Python Engine</a:t>
                      </a:r>
                    </a:p>
                  </a:txBody>
                  <a:tcPr>
                    <a:solidFill>
                      <a:srgbClr val="132A48"/>
                    </a:solidFill>
                  </a:tcPr>
                </a:tc>
              </a:tr>
              <a:tr h="522514">
                <a:tc>
                  <a:txBody>
                    <a:bodyPr wrap="square" lIns="109728" rIns="109728" tIns="73152" bIns="73152"/>
                    <a:lstStyle/>
                    <a:p>
                      <a:pPr algn="l">
                        <a:defRPr sz="950">
                          <a:solidFill>
                            <a:srgbClr val="CBD5E1"/>
                          </a:solidFill>
                          <a:latin typeface="Aptos"/>
                        </a:defRPr>
                      </a:pPr>
                      <a:r>
                        <a:t>Hypothesis Generation</a:t>
                      </a:r>
                    </a:p>
                  </a:txBody>
                  <a:tcPr>
                    <a:solidFill>
                      <a:srgbClr val="131F37"/>
                    </a:solidFill>
                  </a:tcPr>
                </a:tc>
                <a:tc>
                  <a:txBody>
                    <a:bodyPr wrap="square" lIns="109728" rIns="109728" tIns="73152" bIns="73152"/>
                    <a:lstStyle/>
                    <a:p>
                      <a:pPr algn="ctr">
                        <a:defRPr sz="950">
                          <a:solidFill>
                            <a:srgbClr val="FBBF24"/>
                          </a:solidFill>
                          <a:latin typeface="Aptos"/>
                        </a:defRPr>
                      </a:pPr>
                      <a:r>
                        <a:t>⚠️ Qualitative Speculation</a:t>
                      </a:r>
                    </a:p>
                  </a:txBody>
                  <a:tcPr>
                    <a:solidFill>
                      <a:srgbClr val="131F37"/>
                    </a:solidFill>
                  </a:tcPr>
                </a:tc>
                <a:tc>
                  <a:txBody>
                    <a:bodyPr wrap="square" lIns="109728" rIns="109728" tIns="73152" bIns="73152"/>
                    <a:lstStyle/>
                    <a:p>
                      <a:pPr algn="ctr">
                        <a:defRPr sz="950">
                          <a:solidFill>
                            <a:srgbClr val="FBBF24"/>
                          </a:solidFill>
                          <a:latin typeface="Aptos"/>
                        </a:defRPr>
                      </a:pPr>
                      <a:r>
                        <a:t>⚠️ Search Summaries</a:t>
                      </a:r>
                    </a:p>
                  </a:txBody>
                  <a:tcPr>
                    <a:solidFill>
                      <a:srgbClr val="131F37"/>
                    </a:solidFill>
                  </a:tcPr>
                </a:tc>
                <a:tc>
                  <a:txBody>
                    <a:bodyPr wrap="square" lIns="109728" rIns="109728" tIns="73152" bIns="73152"/>
                    <a:lstStyle/>
                    <a:p>
                      <a:pPr algn="ctr">
                        <a:defRPr sz="950">
                          <a:solidFill>
                            <a:srgbClr val="F87171"/>
                          </a:solidFill>
                          <a:latin typeface="Aptos"/>
                        </a:defRPr>
                      </a:pPr>
                      <a:r>
                        <a:t>❌ Manual Code Writing Only</a:t>
                      </a:r>
                    </a:p>
                  </a:txBody>
                  <a:tcPr>
                    <a:solidFill>
                      <a:srgbClr val="131F37"/>
                    </a:solidFill>
                  </a:tcPr>
                </a:tc>
                <a:tc>
                  <a:txBody>
                    <a:bodyPr wrap="square" lIns="109728" rIns="109728" tIns="73152" bIns="73152"/>
                    <a:lstStyle/>
                    <a:p>
                      <a:pPr algn="ctr">
                        <a:defRPr sz="950" b="1">
                          <a:solidFill>
                            <a:srgbClr val="4ADE80"/>
                          </a:solidFill>
                          <a:latin typeface="Aptos"/>
                        </a:defRPr>
                      </a:pPr>
                      <a:r>
                        <a:t>✅ Automated Falsifiable H0/H1</a:t>
                      </a:r>
                    </a:p>
                  </a:txBody>
                  <a:tcPr>
                    <a:solidFill>
                      <a:srgbClr val="132A48"/>
                    </a:solidFill>
                  </a:tcPr>
                </a:tc>
              </a:tr>
              <a:tr h="522516">
                <a:tc>
                  <a:txBody>
                    <a:bodyPr wrap="square" lIns="109728" rIns="109728" tIns="73152" bIns="73152"/>
                    <a:lstStyle/>
                    <a:p>
                      <a:pPr algn="l">
                        <a:defRPr sz="950">
                          <a:solidFill>
                            <a:srgbClr val="CBD5E1"/>
                          </a:solidFill>
                          <a:latin typeface="Aptos"/>
                        </a:defRPr>
                      </a:pPr>
                      <a:r>
                        <a:t>Target Cost / Accessibility</a:t>
                      </a:r>
                    </a:p>
                  </a:txBody>
                  <a:tcPr>
                    <a:solidFill>
                      <a:srgbClr val="101A30"/>
                    </a:solidFill>
                  </a:tcPr>
                </a:tc>
                <a:tc>
                  <a:txBody>
                    <a:bodyPr wrap="square" lIns="109728" rIns="109728" tIns="73152" bIns="73152"/>
                    <a:lstStyle/>
                    <a:p>
                      <a:pPr algn="ctr">
                        <a:defRPr sz="950">
                          <a:solidFill>
                            <a:srgbClr val="CBD5E1"/>
                          </a:solidFill>
                          <a:latin typeface="Aptos"/>
                        </a:defRPr>
                      </a:pPr>
                      <a:r>
                        <a:t>Free / $20/mo</a:t>
                      </a:r>
                    </a:p>
                  </a:txBody>
                  <a:tcPr>
                    <a:solidFill>
                      <a:srgbClr val="101A30"/>
                    </a:solidFill>
                  </a:tcPr>
                </a:tc>
                <a:tc>
                  <a:txBody>
                    <a:bodyPr wrap="square" lIns="109728" rIns="109728" tIns="73152" bIns="73152"/>
                    <a:lstStyle/>
                    <a:p>
                      <a:pPr algn="ctr">
                        <a:defRPr sz="950">
                          <a:solidFill>
                            <a:srgbClr val="CBD5E1"/>
                          </a:solidFill>
                          <a:latin typeface="Aptos"/>
                        </a:defRPr>
                      </a:pPr>
                      <a:r>
                        <a:t>$20/mo</a:t>
                      </a:r>
                    </a:p>
                  </a:txBody>
                  <a:tcPr>
                    <a:solidFill>
                      <a:srgbClr val="101A30"/>
                    </a:solidFill>
                  </a:tcPr>
                </a:tc>
                <a:tc>
                  <a:txBody>
                    <a:bodyPr wrap="square" lIns="109728" rIns="109728" tIns="73152" bIns="73152"/>
                    <a:lstStyle/>
                    <a:p>
                      <a:pPr algn="ctr">
                        <a:defRPr sz="950">
                          <a:solidFill>
                            <a:srgbClr val="CBD5E1"/>
                          </a:solidFill>
                          <a:latin typeface="Aptos"/>
                        </a:defRPr>
                      </a:pPr>
                      <a:r>
                        <a:t>Developer-Heavy</a:t>
                      </a:r>
                    </a:p>
                  </a:txBody>
                  <a:tcPr>
                    <a:solidFill>
                      <a:srgbClr val="101A30"/>
                    </a:solidFill>
                  </a:tcPr>
                </a:tc>
                <a:tc>
                  <a:txBody>
                    <a:bodyPr wrap="square" lIns="109728" rIns="109728" tIns="73152" bIns="73152"/>
                    <a:lstStyle/>
                    <a:p>
                      <a:pPr algn="ctr">
                        <a:defRPr sz="950" b="1">
                          <a:solidFill>
                            <a:srgbClr val="4ADE80"/>
                          </a:solidFill>
                          <a:latin typeface="Aptos"/>
                        </a:defRPr>
                      </a:pPr>
                      <a:r>
                        <a:t>⚡ Accessible, API-Driven SaaS</a:t>
                      </a:r>
                    </a:p>
                  </a:txBody>
                  <a:tcPr>
                    <a:solidFill>
                      <a:srgbClr val="132A48"/>
                    </a:solidFill>
                  </a:tcPr>
                </a:tc>
              </a:tr>
            </a:tbl>
          </a:graphicData>
        </a:graphic>
      </p:graphicFrame>
      <p:sp>
        <p:nvSpPr>
          <p:cNvPr id="8" name="Rounded Rectangle 7"/>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5669280"/>
            <a:ext cx="73152" cy="640080"/>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15000"/>
            <a:ext cx="10241280" cy="548640"/>
          </a:xfrm>
          <a:prstGeom prst="rect">
            <a:avLst/>
          </a:prstGeom>
          <a:noFill/>
        </p:spPr>
        <p:txBody>
          <a:bodyPr wrap="square" lIns="0" tIns="0" rIns="0" bIns="0">
            <a:spAutoFit/>
          </a:bodyPr>
          <a:lstStyle/>
          <a:p>
            <a:r>
              <a:rPr sz="1050" b="1">
                <a:solidFill>
                  <a:srgbClr val="FBBF24"/>
                </a:solidFill>
                <a:latin typeface="Aptos"/>
              </a:rPr>
              <a:t>THE QUANTINTEL MOAT: </a:t>
            </a:r>
            <a:r>
              <a:rPr sz="1000">
                <a:solidFill>
                  <a:srgbClr val="CBD5E1"/>
                </a:solidFill>
                <a:latin typeface="Aptos"/>
              </a:rPr>
              <a:t>We bridge the chasm between messy live-web reconnaissance and deterministic quantitative finance. General LLMs fail on numbers; quant platforms fail on live text. QuantIntel marries TinyFish web discovery with rigorous Python backtesting.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07 • MVP SCOPE &amp; DELIVERABLES</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Hackathon MVP Scope vs. Future Horizon</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A laser-focused, 100% executable prototype built for a rock-solid hackathon demonstration.</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08</a:t>
            </a:r>
          </a:p>
        </p:txBody>
      </p:sp>
      <p:sp>
        <p:nvSpPr>
          <p:cNvPr id="7" name="Rounded Rectangle 6"/>
          <p:cNvSpPr/>
          <p:nvPr/>
        </p:nvSpPr>
        <p:spPr>
          <a:xfrm>
            <a:off x="731520" y="1783080"/>
            <a:ext cx="5184648"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73152" cy="3566160"/>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4727448" cy="640080"/>
          </a:xfrm>
          <a:prstGeom prst="rect">
            <a:avLst/>
          </a:prstGeom>
          <a:noFill/>
        </p:spPr>
        <p:txBody>
          <a:bodyPr wrap="square" lIns="0" tIns="0" rIns="0" bIns="0">
            <a:spAutoFit/>
          </a:bodyPr>
          <a:lstStyle/>
          <a:p>
            <a:pPr>
              <a:defRPr sz="1000" b="1">
                <a:solidFill>
                  <a:srgbClr val="4ADE80"/>
                </a:solidFill>
                <a:latin typeface="Aptos"/>
              </a:defRPr>
            </a:pPr>
            <a:r>
              <a:t>48-HOUR HACKATHON MVP</a:t>
            </a:r>
          </a:p>
          <a:p>
            <a:pPr>
              <a:spcBef>
                <a:spcPts val="300"/>
              </a:spcBef>
              <a:defRPr sz="1300" b="1">
                <a:solidFill>
                  <a:srgbClr val="F8FAFC"/>
                </a:solidFill>
                <a:latin typeface="Aptos"/>
              </a:defRPr>
            </a:pPr>
            <a:r>
              <a:t>What the Judges Will See in the Live Demo</a:t>
            </a:r>
          </a:p>
        </p:txBody>
      </p:sp>
      <p:sp>
        <p:nvSpPr>
          <p:cNvPr id="10" name="TextBox 9"/>
          <p:cNvSpPr txBox="1"/>
          <p:nvPr/>
        </p:nvSpPr>
        <p:spPr>
          <a:xfrm>
            <a:off x="960120" y="2743200"/>
            <a:ext cx="4727448" cy="2514600"/>
          </a:xfrm>
          <a:prstGeom prst="rect">
            <a:avLst/>
          </a:prstGeom>
          <a:noFill/>
        </p:spPr>
        <p:txBody>
          <a:bodyPr wrap="square" lIns="0" tIns="0" rIns="0" bIns="0">
            <a:spAutoFit/>
          </a:bodyPr>
          <a:lstStyle/>
          <a:p>
            <a:pPr>
              <a:spcBef>
                <a:spcPts val="0"/>
              </a:spcBef>
            </a:pPr>
            <a:r>
              <a:rPr sz="950" b="1">
                <a:solidFill>
                  <a:srgbClr val="F8FAFC"/>
                </a:solidFill>
                <a:latin typeface="Aptos"/>
              </a:rPr>
              <a:t>✅ Streamlit Web Dashboard: </a:t>
            </a:r>
            <a:r>
              <a:rPr sz="900">
                <a:solidFill>
                  <a:srgbClr val="94A3B8"/>
                </a:solidFill>
                <a:latin typeface="Aptos"/>
              </a:rPr>
              <a:t>Intuitive search bar allowing analysts to enter natural-language research queries with live status logs.</a:t>
            </a:r>
          </a:p>
          <a:p>
            <a:pPr>
              <a:spcBef>
                <a:spcPts val="500"/>
              </a:spcBef>
            </a:pPr>
            <a:r>
              <a:rPr sz="950" b="1">
                <a:solidFill>
                  <a:srgbClr val="F8FAFC"/>
                </a:solidFill>
                <a:latin typeface="Aptos"/>
              </a:rPr>
              <a:t>✅ Live TinyFish Agent Tracing: </a:t>
            </a:r>
            <a:r>
              <a:rPr sz="900">
                <a:solidFill>
                  <a:srgbClr val="94A3B8"/>
                </a:solidFill>
                <a:latin typeface="Aptos"/>
              </a:rPr>
              <a:t>Real-time visual display showing TinyFish Search &amp; Fetch discovering URLs and cleaning DOM data.</a:t>
            </a:r>
          </a:p>
          <a:p>
            <a:pPr>
              <a:spcBef>
                <a:spcPts val="500"/>
              </a:spcBef>
            </a:pPr>
            <a:r>
              <a:rPr sz="950" b="1">
                <a:solidFill>
                  <a:srgbClr val="F8FAFC"/>
                </a:solidFill>
                <a:latin typeface="Aptos"/>
              </a:rPr>
              <a:t>✅ Pydantic Evidence Card: </a:t>
            </a:r>
            <a:r>
              <a:rPr sz="900">
                <a:solidFill>
                  <a:srgbClr val="94A3B8"/>
                </a:solidFill>
                <a:latin typeface="Aptos"/>
              </a:rPr>
              <a:t>Structured summary extracting event dates, verifiable claims, and direct clickable source URLs.</a:t>
            </a:r>
          </a:p>
          <a:p>
            <a:pPr>
              <a:spcBef>
                <a:spcPts val="500"/>
              </a:spcBef>
            </a:pPr>
            <a:r>
              <a:rPr sz="950" b="1">
                <a:solidFill>
                  <a:srgbClr val="F8FAFC"/>
                </a:solidFill>
                <a:latin typeface="Aptos"/>
              </a:rPr>
              <a:t>✅ Automated Hypothesis Engine: </a:t>
            </a:r>
            <a:r>
              <a:rPr sz="900">
                <a:solidFill>
                  <a:srgbClr val="94A3B8"/>
                </a:solidFill>
                <a:latin typeface="Aptos"/>
              </a:rPr>
              <a:t>Translates raw event into a measurable statistical test (e.g., Abnormal Volume Surge around earnings).</a:t>
            </a:r>
          </a:p>
          <a:p>
            <a:pPr>
              <a:spcBef>
                <a:spcPts val="500"/>
              </a:spcBef>
            </a:pPr>
            <a:r>
              <a:rPr sz="950" b="1">
                <a:solidFill>
                  <a:srgbClr val="F8FAFC"/>
                </a:solidFill>
                <a:latin typeface="Aptos"/>
              </a:rPr>
              <a:t>✅ Sandboxed Python Event Study: </a:t>
            </a:r>
            <a:r>
              <a:rPr sz="900">
                <a:solidFill>
                  <a:srgbClr val="94A3B8"/>
                </a:solidFill>
                <a:latin typeface="Aptos"/>
              </a:rPr>
              <a:t>Queries Yahoo Finance historical data and runs an empirical event study backtest.</a:t>
            </a:r>
          </a:p>
          <a:p>
            <a:pPr>
              <a:spcBef>
                <a:spcPts val="500"/>
              </a:spcBef>
            </a:pPr>
            <a:r>
              <a:rPr sz="950" b="1">
                <a:solidFill>
                  <a:srgbClr val="F8FAFC"/>
                </a:solidFill>
                <a:latin typeface="Aptos"/>
              </a:rPr>
              <a:t>✅ Interactive CAR Visuals: </a:t>
            </a:r>
            <a:r>
              <a:rPr sz="900">
                <a:solidFill>
                  <a:srgbClr val="94A3B8"/>
                </a:solidFill>
                <a:latin typeface="Aptos"/>
              </a:rPr>
              <a:t>Renders Cumulative Abnormal Returns, confidence bands, t-statistics, and downloadable PDF research brief.</a:t>
            </a:r>
          </a:p>
        </p:txBody>
      </p:sp>
      <p:sp>
        <p:nvSpPr>
          <p:cNvPr id="11" name="Rounded Rectangle 10"/>
          <p:cNvSpPr/>
          <p:nvPr/>
        </p:nvSpPr>
        <p:spPr>
          <a:xfrm>
            <a:off x="6272783" y="1783080"/>
            <a:ext cx="5184648"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72783" y="1828800"/>
            <a:ext cx="73152" cy="356616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1383" y="1965960"/>
            <a:ext cx="4727448" cy="640080"/>
          </a:xfrm>
          <a:prstGeom prst="rect">
            <a:avLst/>
          </a:prstGeom>
          <a:noFill/>
        </p:spPr>
        <p:txBody>
          <a:bodyPr wrap="square" lIns="0" tIns="0" rIns="0" bIns="0">
            <a:spAutoFit/>
          </a:bodyPr>
          <a:lstStyle/>
          <a:p>
            <a:pPr>
              <a:defRPr sz="1000" b="1">
                <a:solidFill>
                  <a:srgbClr val="F87171"/>
                </a:solidFill>
                <a:latin typeface="Aptos"/>
              </a:defRPr>
            </a:pPr>
            <a:r>
              <a:t>DELIBERATELY OUT OF SCOPE</a:t>
            </a:r>
          </a:p>
          <a:p>
            <a:pPr>
              <a:spcBef>
                <a:spcPts val="300"/>
              </a:spcBef>
              <a:defRPr sz="1300" b="1">
                <a:solidFill>
                  <a:srgbClr val="F8FAFC"/>
                </a:solidFill>
                <a:latin typeface="Aptos"/>
              </a:defRPr>
            </a:pPr>
            <a:r>
              <a:t>Disciplined Guardrails for Hackathon Success</a:t>
            </a:r>
          </a:p>
        </p:txBody>
      </p:sp>
      <p:sp>
        <p:nvSpPr>
          <p:cNvPr id="14" name="TextBox 13"/>
          <p:cNvSpPr txBox="1"/>
          <p:nvPr/>
        </p:nvSpPr>
        <p:spPr>
          <a:xfrm>
            <a:off x="6501383" y="2743200"/>
            <a:ext cx="4727448" cy="2514600"/>
          </a:xfrm>
          <a:prstGeom prst="rect">
            <a:avLst/>
          </a:prstGeom>
          <a:noFill/>
        </p:spPr>
        <p:txBody>
          <a:bodyPr wrap="square" lIns="0" tIns="0" rIns="0" bIns="0">
            <a:spAutoFit/>
          </a:bodyPr>
          <a:lstStyle/>
          <a:p>
            <a:pPr>
              <a:spcBef>
                <a:spcPts val="0"/>
              </a:spcBef>
            </a:pPr>
            <a:r>
              <a:rPr sz="950" b="1">
                <a:solidFill>
                  <a:srgbClr val="F87171"/>
                </a:solidFill>
                <a:latin typeface="Aptos"/>
              </a:rPr>
              <a:t>🚫 Live Order Execution / Auto-Trading: </a:t>
            </a:r>
            <a:r>
              <a:rPr sz="900">
                <a:solidFill>
                  <a:srgbClr val="94A3B8"/>
                </a:solidFill>
                <a:latin typeface="Aptos"/>
              </a:rPr>
              <a:t>Zero capital allocation or broker connectivity. Eliminates regulatory and financial catastrophe risks.</a:t>
            </a:r>
          </a:p>
          <a:p>
            <a:pPr>
              <a:spcBef>
                <a:spcPts val="600"/>
              </a:spcBef>
            </a:pPr>
            <a:r>
              <a:rPr sz="950" b="1">
                <a:solidFill>
                  <a:srgbClr val="F87171"/>
                </a:solidFill>
                <a:latin typeface="Aptos"/>
              </a:rPr>
              <a:t>🚫 Microsecond / HFT Low-Latency: </a:t>
            </a:r>
            <a:r>
              <a:rPr sz="900">
                <a:solidFill>
                  <a:srgbClr val="94A3B8"/>
                </a:solidFill>
                <a:latin typeface="Aptos"/>
              </a:rPr>
              <a:t>QuantIntel targets discretionary, fundamental, and event-driven quants, not sub-millisecond market-making.</a:t>
            </a:r>
          </a:p>
          <a:p>
            <a:pPr>
              <a:spcBef>
                <a:spcPts val="600"/>
              </a:spcBef>
            </a:pPr>
            <a:r>
              <a:rPr sz="950" b="1">
                <a:solidFill>
                  <a:srgbClr val="F87171"/>
                </a:solidFill>
                <a:latin typeface="Aptos"/>
              </a:rPr>
              <a:t>🚫 Guaranteed Price Predictions: </a:t>
            </a:r>
            <a:r>
              <a:rPr sz="900">
                <a:solidFill>
                  <a:srgbClr val="94A3B8"/>
                </a:solidFill>
                <a:latin typeface="Aptos"/>
              </a:rPr>
              <a:t>We reject snake-oil financial promises. The agent proposes falsifiable hypotheses; it does not promise profits.</a:t>
            </a:r>
          </a:p>
          <a:p>
            <a:pPr>
              <a:spcBef>
                <a:spcPts val="600"/>
              </a:spcBef>
            </a:pPr>
            <a:r>
              <a:rPr sz="950" b="1">
                <a:solidFill>
                  <a:srgbClr val="F87171"/>
                </a:solidFill>
                <a:latin typeface="Aptos"/>
              </a:rPr>
              <a:t>🚫 Tick-Level Order Book Ingestion: </a:t>
            </a:r>
            <a:r>
              <a:rPr sz="900">
                <a:solidFill>
                  <a:srgbClr val="94A3B8"/>
                </a:solidFill>
                <a:latin typeface="Aptos"/>
              </a:rPr>
              <a:t>Scope is constrained to daily and hourly OHLCV bars suitable for event studies.</a:t>
            </a:r>
          </a:p>
          <a:p>
            <a:pPr>
              <a:spcBef>
                <a:spcPts val="600"/>
              </a:spcBef>
            </a:pPr>
            <a:r>
              <a:rPr sz="950" b="1">
                <a:solidFill>
                  <a:srgbClr val="F87171"/>
                </a:solidFill>
                <a:latin typeface="Aptos"/>
              </a:rPr>
              <a:t>🚫 Full Autonomous Portfolio Management: </a:t>
            </a:r>
            <a:r>
              <a:rPr sz="900">
                <a:solidFill>
                  <a:srgbClr val="94A3B8"/>
                </a:solidFill>
                <a:latin typeface="Aptos"/>
              </a:rPr>
              <a:t>Human-in-the-loop design: The system acts as a research accelerator for human decision-makers.</a:t>
            </a:r>
          </a:p>
        </p:txBody>
      </p:sp>
      <p:sp>
        <p:nvSpPr>
          <p:cNvPr id="15" name="Rounded Rectangle 14"/>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5669280"/>
            <a:ext cx="73152" cy="64008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5715000"/>
            <a:ext cx="10241280" cy="548640"/>
          </a:xfrm>
          <a:prstGeom prst="rect">
            <a:avLst/>
          </a:prstGeom>
          <a:noFill/>
        </p:spPr>
        <p:txBody>
          <a:bodyPr wrap="square" lIns="0" tIns="0" rIns="0" bIns="0">
            <a:spAutoFit/>
          </a:bodyPr>
          <a:lstStyle/>
          <a:p>
            <a:r>
              <a:rPr sz="1050" b="1">
                <a:solidFill>
                  <a:srgbClr val="26E5E8"/>
                </a:solidFill>
                <a:latin typeface="Aptos"/>
              </a:rPr>
              <a:t>OUR PRODUCT PHILOSOPHY: </a:t>
            </a:r>
            <a:r>
              <a:rPr sz="1000">
                <a:solidFill>
                  <a:srgbClr val="CBD5E1"/>
                </a:solidFill>
                <a:latin typeface="Aptos"/>
              </a:rPr>
              <a:t>“A focused, bulletproof 5-minute research loop that reliably works live on stage is worth 100x more than 20 half-finished speculative features.” Every feature built is designed for reproducible live demo verification.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08 • EVALUATION &amp; GOVERNANCE</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Evaluation Framework &amp; Responsible AI</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Institutional-grade rigor and ethical safeguards embedded into every layer of QuantIntel.</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09</a:t>
            </a:r>
          </a:p>
        </p:txBody>
      </p:sp>
      <p:sp>
        <p:nvSpPr>
          <p:cNvPr id="7" name="Rounded Rectangle 6"/>
          <p:cNvSpPr/>
          <p:nvPr/>
        </p:nvSpPr>
        <p:spPr>
          <a:xfrm>
            <a:off x="731520"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24612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965960"/>
            <a:ext cx="2971800" cy="685800"/>
          </a:xfrm>
          <a:prstGeom prst="rect">
            <a:avLst/>
          </a:prstGeom>
          <a:noFill/>
        </p:spPr>
        <p:txBody>
          <a:bodyPr wrap="square" lIns="0" tIns="0" rIns="0" bIns="0">
            <a:spAutoFit/>
          </a:bodyPr>
          <a:lstStyle/>
          <a:p>
            <a:pPr>
              <a:defRPr sz="950" b="1">
                <a:solidFill>
                  <a:srgbClr val="26E5E8"/>
                </a:solidFill>
                <a:latin typeface="Aptos"/>
              </a:defRPr>
            </a:pPr>
            <a:r>
              <a:t>CRITERION 1</a:t>
            </a:r>
          </a:p>
          <a:p>
            <a:pPr>
              <a:spcBef>
                <a:spcPts val="300"/>
              </a:spcBef>
              <a:defRPr sz="1300" b="1">
                <a:solidFill>
                  <a:srgbClr val="F8FAFC"/>
                </a:solidFill>
                <a:latin typeface="Aptos"/>
              </a:defRPr>
            </a:pPr>
            <a:r>
              <a:t>Source Grounding &amp; Provenance</a:t>
            </a:r>
          </a:p>
          <a:p>
            <a:pPr>
              <a:spcBef>
                <a:spcPts val="200"/>
              </a:spcBef>
              <a:defRPr sz="950">
                <a:solidFill>
                  <a:srgbClr val="94A3B8"/>
                </a:solidFill>
                <a:latin typeface="Aptos"/>
              </a:defRPr>
            </a:pPr>
            <a:r>
              <a:t>100% Sourced Citations</a:t>
            </a:r>
          </a:p>
        </p:txBody>
      </p:sp>
      <p:sp>
        <p:nvSpPr>
          <p:cNvPr id="10" name="TextBox 9"/>
          <p:cNvSpPr txBox="1"/>
          <p:nvPr/>
        </p:nvSpPr>
        <p:spPr>
          <a:xfrm>
            <a:off x="960120" y="2926080"/>
            <a:ext cx="2971800" cy="237744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b="1">
                <a:solidFill>
                  <a:srgbClr val="F8FAFC"/>
                </a:solidFill>
                <a:latin typeface="Aptos"/>
              </a:rPr>
              <a:t>Verifiable Evidence: </a:t>
            </a:r>
            <a:r>
              <a:rPr sz="950">
                <a:solidFill>
                  <a:srgbClr val="94A3B8"/>
                </a:solidFill>
                <a:latin typeface="Aptos"/>
              </a:rPr>
              <a:t>Every factual statement and event date must trace directly to an audited TinyFish search URL.</a:t>
            </a:r>
          </a:p>
          <a:p>
            <a:pPr>
              <a:spcBef>
                <a:spcPts val="800"/>
              </a:spcBef>
            </a:pPr>
            <a:r>
              <a:rPr sz="1000" b="1">
                <a:solidFill>
                  <a:srgbClr val="26E5E8"/>
                </a:solidFill>
                <a:latin typeface="Aptos"/>
              </a:rPr>
              <a:t>✓ </a:t>
            </a:r>
            <a:r>
              <a:rPr sz="950" b="1">
                <a:solidFill>
                  <a:srgbClr val="F8FAFC"/>
                </a:solidFill>
                <a:latin typeface="Aptos"/>
              </a:rPr>
              <a:t>Verbatim Context Matching: </a:t>
            </a:r>
            <a:r>
              <a:rPr sz="950">
                <a:solidFill>
                  <a:srgbClr val="94A3B8"/>
                </a:solidFill>
                <a:latin typeface="Aptos"/>
              </a:rPr>
              <a:t>The system highlights the exact extracted sentence from the source markdown.</a:t>
            </a:r>
          </a:p>
          <a:p>
            <a:pPr>
              <a:spcBef>
                <a:spcPts val="800"/>
              </a:spcBef>
            </a:pPr>
            <a:r>
              <a:rPr sz="1000" b="1">
                <a:solidFill>
                  <a:srgbClr val="26E5E8"/>
                </a:solidFill>
                <a:latin typeface="Aptos"/>
              </a:rPr>
              <a:t>✓ </a:t>
            </a:r>
            <a:r>
              <a:rPr sz="950" b="1">
                <a:solidFill>
                  <a:srgbClr val="F8FAFC"/>
                </a:solidFill>
                <a:latin typeface="Aptos"/>
              </a:rPr>
              <a:t>Zero Synthetic Data: </a:t>
            </a:r>
            <a:r>
              <a:rPr sz="950">
                <a:solidFill>
                  <a:srgbClr val="94A3B8"/>
                </a:solidFill>
                <a:latin typeface="Aptos"/>
              </a:rPr>
              <a:t>If an event date or ticker is ambiguous, the agent flags it as missing rather than hallucinating.</a:t>
            </a:r>
          </a:p>
        </p:txBody>
      </p:sp>
      <p:sp>
        <p:nvSpPr>
          <p:cNvPr id="11" name="Rounded Rectangle 10"/>
          <p:cNvSpPr/>
          <p:nvPr/>
        </p:nvSpPr>
        <p:spPr>
          <a:xfrm>
            <a:off x="4425696"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71416" y="1783080"/>
            <a:ext cx="324612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54296" y="1965960"/>
            <a:ext cx="2971800" cy="685800"/>
          </a:xfrm>
          <a:prstGeom prst="rect">
            <a:avLst/>
          </a:prstGeom>
          <a:noFill/>
        </p:spPr>
        <p:txBody>
          <a:bodyPr wrap="square" lIns="0" tIns="0" rIns="0" bIns="0">
            <a:spAutoFit/>
          </a:bodyPr>
          <a:lstStyle/>
          <a:p>
            <a:pPr>
              <a:defRPr sz="950" b="1">
                <a:solidFill>
                  <a:srgbClr val="4ADE80"/>
                </a:solidFill>
                <a:latin typeface="Aptos"/>
              </a:defRPr>
            </a:pPr>
            <a:r>
              <a:t>CRITERION 2</a:t>
            </a:r>
          </a:p>
          <a:p>
            <a:pPr>
              <a:spcBef>
                <a:spcPts val="300"/>
              </a:spcBef>
              <a:defRPr sz="1300" b="1">
                <a:solidFill>
                  <a:srgbClr val="F8FAFC"/>
                </a:solidFill>
                <a:latin typeface="Aptos"/>
              </a:defRPr>
            </a:pPr>
            <a:r>
              <a:t>Temporal Integrity &amp; Anti-Leakage</a:t>
            </a:r>
          </a:p>
          <a:p>
            <a:pPr>
              <a:spcBef>
                <a:spcPts val="200"/>
              </a:spcBef>
              <a:defRPr sz="950">
                <a:solidFill>
                  <a:srgbClr val="94A3B8"/>
                </a:solidFill>
                <a:latin typeface="Aptos"/>
              </a:defRPr>
            </a:pPr>
            <a:r>
              <a:t>0% Look-Ahead Bias</a:t>
            </a:r>
          </a:p>
        </p:txBody>
      </p:sp>
      <p:sp>
        <p:nvSpPr>
          <p:cNvPr id="14" name="TextBox 13"/>
          <p:cNvSpPr txBox="1"/>
          <p:nvPr/>
        </p:nvSpPr>
        <p:spPr>
          <a:xfrm>
            <a:off x="4654296" y="2926080"/>
            <a:ext cx="2971800" cy="2377440"/>
          </a:xfrm>
          <a:prstGeom prst="rect">
            <a:avLst/>
          </a:prstGeom>
          <a:noFill/>
        </p:spPr>
        <p:txBody>
          <a:bodyPr wrap="square" lIns="0" tIns="0" rIns="0" bIns="0">
            <a:spAutoFit/>
          </a:bodyPr>
          <a:lstStyle/>
          <a:p>
            <a:pPr>
              <a:spcBef>
                <a:spcPts val="0"/>
              </a:spcBef>
            </a:pPr>
            <a:r>
              <a:rPr sz="1000" b="1">
                <a:solidFill>
                  <a:srgbClr val="4ADE80"/>
                </a:solidFill>
                <a:latin typeface="Aptos"/>
              </a:rPr>
              <a:t>✓ </a:t>
            </a:r>
            <a:r>
              <a:rPr sz="950" b="1">
                <a:solidFill>
                  <a:srgbClr val="F8FAFC"/>
                </a:solidFill>
                <a:latin typeface="Aptos"/>
              </a:rPr>
              <a:t>UTC Timestamp Validation: </a:t>
            </a:r>
            <a:r>
              <a:rPr sz="950">
                <a:solidFill>
                  <a:srgbClr val="94A3B8"/>
                </a:solidFill>
                <a:latin typeface="Aptos"/>
              </a:rPr>
              <a:t>Event announcement timestamps are strictly verified against official press timestamps.</a:t>
            </a:r>
          </a:p>
          <a:p>
            <a:pPr>
              <a:spcBef>
                <a:spcPts val="800"/>
              </a:spcBef>
            </a:pPr>
            <a:r>
              <a:rPr sz="1000" b="1">
                <a:solidFill>
                  <a:srgbClr val="4ADE80"/>
                </a:solidFill>
                <a:latin typeface="Aptos"/>
              </a:rPr>
              <a:t>✓ </a:t>
            </a:r>
            <a:r>
              <a:rPr sz="950" b="1">
                <a:solidFill>
                  <a:srgbClr val="F8FAFC"/>
                </a:solidFill>
                <a:latin typeface="Aptos"/>
              </a:rPr>
              <a:t>Pre/Post Window Isolation: </a:t>
            </a:r>
            <a:r>
              <a:rPr sz="950">
                <a:solidFill>
                  <a:srgbClr val="94A3B8"/>
                </a:solidFill>
                <a:latin typeface="Aptos"/>
              </a:rPr>
              <a:t>Statistical backtesting windows are isolated to ensure no future data leaks into the estimation window.</a:t>
            </a:r>
          </a:p>
          <a:p>
            <a:pPr>
              <a:spcBef>
                <a:spcPts val="800"/>
              </a:spcBef>
            </a:pPr>
            <a:r>
              <a:rPr sz="1000" b="1">
                <a:solidFill>
                  <a:srgbClr val="4ADE80"/>
                </a:solidFill>
                <a:latin typeface="Aptos"/>
              </a:rPr>
              <a:t>✓ </a:t>
            </a:r>
            <a:r>
              <a:rPr sz="950" b="1">
                <a:solidFill>
                  <a:srgbClr val="F8FAFC"/>
                </a:solidFill>
                <a:latin typeface="Aptos"/>
              </a:rPr>
              <a:t>Survivorship Awareness: </a:t>
            </a:r>
            <a:r>
              <a:rPr sz="950">
                <a:solidFill>
                  <a:srgbClr val="94A3B8"/>
                </a:solidFill>
                <a:latin typeface="Aptos"/>
              </a:rPr>
              <a:t>Flags corporate delisting or restructuring caveats alongside backtest metrics.</a:t>
            </a:r>
          </a:p>
        </p:txBody>
      </p:sp>
      <p:sp>
        <p:nvSpPr>
          <p:cNvPr id="15" name="Rounded Rectangle 14"/>
          <p:cNvSpPr/>
          <p:nvPr/>
        </p:nvSpPr>
        <p:spPr>
          <a:xfrm>
            <a:off x="8119872" y="1783080"/>
            <a:ext cx="333756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65592" y="1783080"/>
            <a:ext cx="324612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48472" y="1965960"/>
            <a:ext cx="2971800" cy="685800"/>
          </a:xfrm>
          <a:prstGeom prst="rect">
            <a:avLst/>
          </a:prstGeom>
          <a:noFill/>
        </p:spPr>
        <p:txBody>
          <a:bodyPr wrap="square" lIns="0" tIns="0" rIns="0" bIns="0">
            <a:spAutoFit/>
          </a:bodyPr>
          <a:lstStyle/>
          <a:p>
            <a:pPr>
              <a:defRPr sz="950" b="1">
                <a:solidFill>
                  <a:srgbClr val="FBBF24"/>
                </a:solidFill>
                <a:latin typeface="Aptos"/>
              </a:defRPr>
            </a:pPr>
            <a:r>
              <a:t>CRITERION 3</a:t>
            </a:r>
          </a:p>
          <a:p>
            <a:pPr>
              <a:spcBef>
                <a:spcPts val="300"/>
              </a:spcBef>
              <a:defRPr sz="1300" b="1">
                <a:solidFill>
                  <a:srgbClr val="F8FAFC"/>
                </a:solidFill>
                <a:latin typeface="Aptos"/>
              </a:defRPr>
            </a:pPr>
            <a:r>
              <a:t>Statistical Reproducibility</a:t>
            </a:r>
          </a:p>
          <a:p>
            <a:pPr>
              <a:spcBef>
                <a:spcPts val="200"/>
              </a:spcBef>
              <a:defRPr sz="950">
                <a:solidFill>
                  <a:srgbClr val="94A3B8"/>
                </a:solidFill>
                <a:latin typeface="Aptos"/>
              </a:defRPr>
            </a:pPr>
            <a:r>
              <a:t>Open-Source Math</a:t>
            </a:r>
          </a:p>
        </p:txBody>
      </p:sp>
      <p:sp>
        <p:nvSpPr>
          <p:cNvPr id="18" name="TextBox 17"/>
          <p:cNvSpPr txBox="1"/>
          <p:nvPr/>
        </p:nvSpPr>
        <p:spPr>
          <a:xfrm>
            <a:off x="8348472" y="2926080"/>
            <a:ext cx="2971800" cy="237744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b="1">
                <a:solidFill>
                  <a:srgbClr val="F8FAFC"/>
                </a:solidFill>
                <a:latin typeface="Aptos"/>
              </a:rPr>
              <a:t>Transparent Python Code: </a:t>
            </a:r>
            <a:r>
              <a:rPr sz="950">
                <a:solidFill>
                  <a:srgbClr val="94A3B8"/>
                </a:solidFill>
                <a:latin typeface="Aptos"/>
              </a:rPr>
              <a:t>Every backtest generates clean, comment-annotated Python code downloadable with the brief.</a:t>
            </a:r>
          </a:p>
          <a:p>
            <a:pPr>
              <a:spcBef>
                <a:spcPts val="800"/>
              </a:spcBef>
            </a:pPr>
            <a:r>
              <a:rPr sz="1000" b="1">
                <a:solidFill>
                  <a:srgbClr val="FBBF24"/>
                </a:solidFill>
                <a:latin typeface="Aptos"/>
              </a:rPr>
              <a:t>✓ </a:t>
            </a:r>
            <a:r>
              <a:rPr sz="950" b="1">
                <a:solidFill>
                  <a:srgbClr val="F8FAFC"/>
                </a:solidFill>
                <a:latin typeface="Aptos"/>
              </a:rPr>
              <a:t>Standard Statistical Metrics: </a:t>
            </a:r>
            <a:r>
              <a:rPr sz="950">
                <a:solidFill>
                  <a:srgbClr val="94A3B8"/>
                </a:solidFill>
                <a:latin typeface="Aptos"/>
              </a:rPr>
              <a:t>Reports standard Student's t-statistics, p-values, and 95% confidence intervals.</a:t>
            </a:r>
          </a:p>
          <a:p>
            <a:pPr>
              <a:spcBef>
                <a:spcPts val="800"/>
              </a:spcBef>
            </a:pPr>
            <a:r>
              <a:rPr sz="1000" b="1">
                <a:solidFill>
                  <a:srgbClr val="FBBF24"/>
                </a:solidFill>
                <a:latin typeface="Aptos"/>
              </a:rPr>
              <a:t>✓ </a:t>
            </a:r>
            <a:r>
              <a:rPr sz="950" b="1">
                <a:solidFill>
                  <a:srgbClr val="F8FAFC"/>
                </a:solidFill>
                <a:latin typeface="Aptos"/>
              </a:rPr>
              <a:t>Sensitivity Analysis: </a:t>
            </a:r>
            <a:r>
              <a:rPr sz="950">
                <a:solidFill>
                  <a:srgbClr val="94A3B8"/>
                </a:solidFill>
                <a:latin typeface="Aptos"/>
              </a:rPr>
              <a:t>Tests robustness across varying estimation windows (-30d to -120d) to prevent p-hacking.</a:t>
            </a:r>
          </a:p>
        </p:txBody>
      </p:sp>
      <p:sp>
        <p:nvSpPr>
          <p:cNvPr id="19" name="Rounded Rectangle 18"/>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669280"/>
            <a:ext cx="73152" cy="640080"/>
          </a:xfrm>
          <a:prstGeom prst="rect">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5715000"/>
            <a:ext cx="10241280" cy="548640"/>
          </a:xfrm>
          <a:prstGeom prst="rect">
            <a:avLst/>
          </a:prstGeom>
          <a:noFill/>
        </p:spPr>
        <p:txBody>
          <a:bodyPr wrap="square" lIns="0" tIns="0" rIns="0" bIns="0">
            <a:spAutoFit/>
          </a:bodyPr>
          <a:lstStyle/>
          <a:p>
            <a:r>
              <a:rPr sz="1050" b="1">
                <a:solidFill>
                  <a:srgbClr val="F87171"/>
                </a:solidFill>
                <a:latin typeface="Aptos"/>
              </a:rPr>
              <a:t>REGULATORY &amp; ETHICAL SAFEGUARD: </a:t>
            </a:r>
            <a:r>
              <a:rPr sz="1000">
                <a:solidFill>
                  <a:srgbClr val="CBD5E1"/>
                </a:solidFill>
                <a:latin typeface="Aptos"/>
              </a:rPr>
              <a:t>QuantIntel is strictly an analytical research assistant and explicitly disclaims financial advisory status. All generated reports include clear methodological caveats, uncertainty bounds, and explicit risk disclosures in alignment with institutional compliance standards.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4"/>
        </a:solidFill>
        <a:effectLst/>
      </p:bgPr>
    </p:bg>
    <p:spTree>
      <p:nvGrpSpPr>
        <p:cNvPr id="1" name=""/>
        <p:cNvGrpSpPr/>
        <p:nvPr/>
      </p:nvGrpSpPr>
      <p:grpSpPr/>
      <p:sp>
        <p:nvSpPr>
          <p:cNvPr id="2" name="TextBox 1"/>
          <p:cNvSpPr txBox="1"/>
          <p:nvPr/>
        </p:nvSpPr>
        <p:spPr>
          <a:xfrm>
            <a:off x="731520" y="365760"/>
            <a:ext cx="7315200" cy="274320"/>
          </a:xfrm>
          <a:prstGeom prst="rect">
            <a:avLst/>
          </a:prstGeom>
          <a:noFill/>
        </p:spPr>
        <p:txBody>
          <a:bodyPr wrap="square" lIns="0" tIns="0" rIns="0" bIns="0">
            <a:spAutoFit/>
          </a:bodyPr>
          <a:lstStyle/>
          <a:p>
            <a:pPr>
              <a:defRPr sz="1000" b="1">
                <a:solidFill>
                  <a:srgbClr val="26E5E8"/>
                </a:solidFill>
                <a:latin typeface="Aptos"/>
              </a:defRPr>
            </a:pPr>
            <a:r>
              <a:t>09 • EXECUTION &amp; VISION</a:t>
            </a:r>
          </a:p>
        </p:txBody>
      </p:sp>
      <p:sp>
        <p:nvSpPr>
          <p:cNvPr id="3" name="TextBox 2"/>
          <p:cNvSpPr txBox="1"/>
          <p:nvPr/>
        </p:nvSpPr>
        <p:spPr>
          <a:xfrm>
            <a:off x="731520" y="621792"/>
            <a:ext cx="9601200" cy="502920"/>
          </a:xfrm>
          <a:prstGeom prst="rect">
            <a:avLst/>
          </a:prstGeom>
          <a:noFill/>
        </p:spPr>
        <p:txBody>
          <a:bodyPr wrap="square" lIns="0" tIns="0" rIns="0" bIns="0">
            <a:spAutoFit/>
          </a:bodyPr>
          <a:lstStyle/>
          <a:p>
            <a:pPr>
              <a:defRPr sz="2100" b="1">
                <a:solidFill>
                  <a:srgbClr val="F8FAFC"/>
                </a:solidFill>
                <a:latin typeface="Aptos"/>
              </a:defRPr>
            </a:pPr>
            <a:r>
              <a:t>Sprint Roadmap to TinyFish Accelerator</a:t>
            </a:r>
          </a:p>
        </p:txBody>
      </p:sp>
      <p:sp>
        <p:nvSpPr>
          <p:cNvPr id="4" name="TextBox 3"/>
          <p:cNvSpPr txBox="1"/>
          <p:nvPr/>
        </p:nvSpPr>
        <p:spPr>
          <a:xfrm>
            <a:off x="731520" y="1133856"/>
            <a:ext cx="10241280" cy="320040"/>
          </a:xfrm>
          <a:prstGeom prst="rect">
            <a:avLst/>
          </a:prstGeom>
          <a:noFill/>
        </p:spPr>
        <p:txBody>
          <a:bodyPr wrap="square" lIns="0" tIns="0" rIns="0" bIns="0">
            <a:spAutoFit/>
          </a:bodyPr>
          <a:lstStyle/>
          <a:p>
            <a:pPr>
              <a:defRPr sz="1100">
                <a:solidFill>
                  <a:srgbClr val="94A3B8"/>
                </a:solidFill>
                <a:latin typeface="Aptos"/>
              </a:defRPr>
            </a:pPr>
            <a:r>
              <a:t>From hackathon prototype to scalable commercial SaaS platform in the TinyFish ecosystem.</a:t>
            </a:r>
          </a:p>
        </p:txBody>
      </p:sp>
      <p:sp>
        <p:nvSpPr>
          <p:cNvPr id="5" name="Rectangle 4"/>
          <p:cNvSpPr/>
          <p:nvPr/>
        </p:nvSpPr>
        <p:spPr>
          <a:xfrm>
            <a:off x="731520" y="1508760"/>
            <a:ext cx="10728655" cy="18288"/>
          </a:xfrm>
          <a:prstGeom prst="rect">
            <a:avLst/>
          </a:prstGeom>
          <a:solidFill>
            <a:srgbClr val="23385D"/>
          </a:solidFill>
          <a:ln>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365760"/>
            <a:ext cx="944575" cy="274320"/>
          </a:xfrm>
          <a:prstGeom prst="rect">
            <a:avLst/>
          </a:prstGeom>
          <a:noFill/>
        </p:spPr>
        <p:txBody>
          <a:bodyPr wrap="none" lIns="0" tIns="0" rIns="0" bIns="0">
            <a:spAutoFit/>
          </a:bodyPr>
          <a:lstStyle/>
          <a:p>
            <a:pPr algn="r">
              <a:defRPr sz="1100" b="1">
                <a:solidFill>
                  <a:srgbClr val="26E5E8"/>
                </a:solidFill>
                <a:latin typeface="Aptos"/>
              </a:defRPr>
            </a:pPr>
            <a:r>
              <a:t>10</a:t>
            </a:r>
          </a:p>
        </p:txBody>
      </p:sp>
      <p:sp>
        <p:nvSpPr>
          <p:cNvPr id="7" name="Rounded Rectangle 6"/>
          <p:cNvSpPr/>
          <p:nvPr/>
        </p:nvSpPr>
        <p:spPr>
          <a:xfrm>
            <a:off x="731520" y="1783080"/>
            <a:ext cx="246888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2377440" cy="54864"/>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1965960"/>
            <a:ext cx="2139696" cy="685800"/>
          </a:xfrm>
          <a:prstGeom prst="rect">
            <a:avLst/>
          </a:prstGeom>
          <a:noFill/>
        </p:spPr>
        <p:txBody>
          <a:bodyPr wrap="square" lIns="0" tIns="0" rIns="0" bIns="0">
            <a:spAutoFit/>
          </a:bodyPr>
          <a:lstStyle/>
          <a:p>
            <a:pPr>
              <a:defRPr sz="900" b="1">
                <a:solidFill>
                  <a:srgbClr val="26E5E8"/>
                </a:solidFill>
                <a:latin typeface="Aptos"/>
              </a:defRPr>
            </a:pPr>
            <a:r>
              <a:t>PHASE 1 • HOURS 0-12</a:t>
            </a:r>
          </a:p>
          <a:p>
            <a:pPr>
              <a:spcBef>
                <a:spcPts val="300"/>
              </a:spcBef>
              <a:defRPr sz="1200" b="1">
                <a:solidFill>
                  <a:srgbClr val="F8FAFC"/>
                </a:solidFill>
                <a:latin typeface="Aptos"/>
              </a:defRPr>
            </a:pPr>
            <a:r>
              <a:t>TinyFish Recon Pipeline</a:t>
            </a:r>
          </a:p>
        </p:txBody>
      </p:sp>
      <p:sp>
        <p:nvSpPr>
          <p:cNvPr id="10" name="TextBox 9"/>
          <p:cNvSpPr txBox="1"/>
          <p:nvPr/>
        </p:nvSpPr>
        <p:spPr>
          <a:xfrm>
            <a:off x="896112" y="2788920"/>
            <a:ext cx="2139696" cy="2468880"/>
          </a:xfrm>
          <a:prstGeom prst="rect">
            <a:avLst/>
          </a:prstGeom>
          <a:noFill/>
        </p:spPr>
        <p:txBody>
          <a:bodyPr wrap="square" lIns="0" tIns="0" rIns="0" bIns="0">
            <a:spAutoFit/>
          </a:bodyPr>
          <a:lstStyle/>
          <a:p>
            <a:pPr>
              <a:spcBef>
                <a:spcPts val="0"/>
              </a:spcBef>
            </a:pPr>
            <a:r>
              <a:rPr sz="1000" b="1">
                <a:solidFill>
                  <a:srgbClr val="26E5E8"/>
                </a:solidFill>
                <a:latin typeface="Aptos"/>
              </a:rPr>
              <a:t>• </a:t>
            </a:r>
            <a:r>
              <a:rPr sz="950">
                <a:solidFill>
                  <a:srgbClr val="CBD5E1"/>
                </a:solidFill>
                <a:latin typeface="Aptos"/>
              </a:rPr>
              <a:t>Integrate TinyFish Search &amp; Fetch APIs</a:t>
            </a:r>
          </a:p>
          <a:p>
            <a:pPr>
              <a:spcBef>
                <a:spcPts val="800"/>
              </a:spcBef>
            </a:pPr>
            <a:r>
              <a:rPr sz="1000" b="1">
                <a:solidFill>
                  <a:srgbClr val="26E5E8"/>
                </a:solidFill>
                <a:latin typeface="Aptos"/>
              </a:rPr>
              <a:t>• </a:t>
            </a:r>
            <a:r>
              <a:rPr sz="950">
                <a:solidFill>
                  <a:srgbClr val="CBD5E1"/>
                </a:solidFill>
                <a:latin typeface="Aptos"/>
              </a:rPr>
              <a:t>Test dynamic JS corporate portal crawling</a:t>
            </a:r>
          </a:p>
          <a:p>
            <a:pPr>
              <a:spcBef>
                <a:spcPts val="800"/>
              </a:spcBef>
            </a:pPr>
            <a:r>
              <a:rPr sz="1000" b="1">
                <a:solidFill>
                  <a:srgbClr val="26E5E8"/>
                </a:solidFill>
                <a:latin typeface="Aptos"/>
              </a:rPr>
              <a:t>• </a:t>
            </a:r>
            <a:r>
              <a:rPr sz="950">
                <a:solidFill>
                  <a:srgbClr val="CBD5E1"/>
                </a:solidFill>
                <a:latin typeface="Aptos"/>
              </a:rPr>
              <a:t>Implement Pydantic schema validation</a:t>
            </a:r>
          </a:p>
          <a:p>
            <a:pPr>
              <a:spcBef>
                <a:spcPts val="800"/>
              </a:spcBef>
            </a:pPr>
            <a:r>
              <a:rPr sz="1000" b="1">
                <a:solidFill>
                  <a:srgbClr val="26E5E8"/>
                </a:solidFill>
                <a:latin typeface="Aptos"/>
              </a:rPr>
              <a:t>• </a:t>
            </a:r>
            <a:r>
              <a:rPr sz="950">
                <a:solidFill>
                  <a:srgbClr val="CBD5E1"/>
                </a:solidFill>
                <a:latin typeface="Aptos"/>
              </a:rPr>
              <a:t>Verify source URL and timestamp parsing</a:t>
            </a:r>
          </a:p>
        </p:txBody>
      </p:sp>
      <p:sp>
        <p:nvSpPr>
          <p:cNvPr id="11" name="Rounded Rectangle 10"/>
          <p:cNvSpPr/>
          <p:nvPr/>
        </p:nvSpPr>
        <p:spPr>
          <a:xfrm>
            <a:off x="3483864" y="1783080"/>
            <a:ext cx="246888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29584" y="1783080"/>
            <a:ext cx="2377440" cy="54864"/>
          </a:xfrm>
          <a:prstGeom prst="rect">
            <a:avLst/>
          </a:prstGeom>
          <a:solidFill>
            <a:srgbClr val="4AD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48456" y="1965960"/>
            <a:ext cx="2139696" cy="685800"/>
          </a:xfrm>
          <a:prstGeom prst="rect">
            <a:avLst/>
          </a:prstGeom>
          <a:noFill/>
        </p:spPr>
        <p:txBody>
          <a:bodyPr wrap="square" lIns="0" tIns="0" rIns="0" bIns="0">
            <a:spAutoFit/>
          </a:bodyPr>
          <a:lstStyle/>
          <a:p>
            <a:pPr>
              <a:defRPr sz="900" b="1">
                <a:solidFill>
                  <a:srgbClr val="4ADE80"/>
                </a:solidFill>
                <a:latin typeface="Aptos"/>
              </a:defRPr>
            </a:pPr>
            <a:r>
              <a:t>PHASE 2 • HOURS 12-24</a:t>
            </a:r>
          </a:p>
          <a:p>
            <a:pPr>
              <a:spcBef>
                <a:spcPts val="300"/>
              </a:spcBef>
              <a:defRPr sz="1200" b="1">
                <a:solidFill>
                  <a:srgbClr val="F8FAFC"/>
                </a:solidFill>
                <a:latin typeface="Aptos"/>
              </a:defRPr>
            </a:pPr>
            <a:r>
              <a:t>Quant Backtest Sandbox</a:t>
            </a:r>
          </a:p>
        </p:txBody>
      </p:sp>
      <p:sp>
        <p:nvSpPr>
          <p:cNvPr id="14" name="TextBox 13"/>
          <p:cNvSpPr txBox="1"/>
          <p:nvPr/>
        </p:nvSpPr>
        <p:spPr>
          <a:xfrm>
            <a:off x="3648456" y="2788920"/>
            <a:ext cx="2139696" cy="2468880"/>
          </a:xfrm>
          <a:prstGeom prst="rect">
            <a:avLst/>
          </a:prstGeom>
          <a:noFill/>
        </p:spPr>
        <p:txBody>
          <a:bodyPr wrap="square" lIns="0" tIns="0" rIns="0" bIns="0">
            <a:spAutoFit/>
          </a:bodyPr>
          <a:lstStyle/>
          <a:p>
            <a:pPr>
              <a:spcBef>
                <a:spcPts val="0"/>
              </a:spcBef>
            </a:pPr>
            <a:r>
              <a:rPr sz="1000" b="1">
                <a:solidFill>
                  <a:srgbClr val="4ADE80"/>
                </a:solidFill>
                <a:latin typeface="Aptos"/>
              </a:rPr>
              <a:t>• </a:t>
            </a:r>
            <a:r>
              <a:rPr sz="950">
                <a:solidFill>
                  <a:srgbClr val="CBD5E1"/>
                </a:solidFill>
                <a:latin typeface="Aptos"/>
              </a:rPr>
              <a:t>Build sandboxed Python event-study runner</a:t>
            </a:r>
          </a:p>
          <a:p>
            <a:pPr>
              <a:spcBef>
                <a:spcPts val="800"/>
              </a:spcBef>
            </a:pPr>
            <a:r>
              <a:rPr sz="1000" b="1">
                <a:solidFill>
                  <a:srgbClr val="4ADE80"/>
                </a:solidFill>
                <a:latin typeface="Aptos"/>
              </a:rPr>
              <a:t>• </a:t>
            </a:r>
            <a:r>
              <a:rPr sz="950">
                <a:solidFill>
                  <a:srgbClr val="CBD5E1"/>
                </a:solidFill>
                <a:latin typeface="Aptos"/>
              </a:rPr>
              <a:t>Connect yfinance historical pricing API</a:t>
            </a:r>
          </a:p>
          <a:p>
            <a:pPr>
              <a:spcBef>
                <a:spcPts val="800"/>
              </a:spcBef>
            </a:pPr>
            <a:r>
              <a:rPr sz="1000" b="1">
                <a:solidFill>
                  <a:srgbClr val="4ADE80"/>
                </a:solidFill>
                <a:latin typeface="Aptos"/>
              </a:rPr>
              <a:t>• </a:t>
            </a:r>
            <a:r>
              <a:rPr sz="950">
                <a:solidFill>
                  <a:srgbClr val="CBD5E1"/>
                </a:solidFill>
                <a:latin typeface="Aptos"/>
              </a:rPr>
              <a:t>Implement CAR and volume z-score math</a:t>
            </a:r>
          </a:p>
          <a:p>
            <a:pPr>
              <a:spcBef>
                <a:spcPts val="800"/>
              </a:spcBef>
            </a:pPr>
            <a:r>
              <a:rPr sz="1000" b="1">
                <a:solidFill>
                  <a:srgbClr val="4ADE80"/>
                </a:solidFill>
                <a:latin typeface="Aptos"/>
              </a:rPr>
              <a:t>• </a:t>
            </a:r>
            <a:r>
              <a:rPr sz="950">
                <a:solidFill>
                  <a:srgbClr val="CBD5E1"/>
                </a:solidFill>
                <a:latin typeface="Aptos"/>
              </a:rPr>
              <a:t>Validate hypothesis generation templates</a:t>
            </a:r>
          </a:p>
        </p:txBody>
      </p:sp>
      <p:sp>
        <p:nvSpPr>
          <p:cNvPr id="15" name="Rounded Rectangle 14"/>
          <p:cNvSpPr/>
          <p:nvPr/>
        </p:nvSpPr>
        <p:spPr>
          <a:xfrm>
            <a:off x="6236208" y="1783080"/>
            <a:ext cx="246888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81928" y="1783080"/>
            <a:ext cx="2377440" cy="54864"/>
          </a:xfrm>
          <a:prstGeom prst="rect">
            <a:avLst/>
          </a:prstGeom>
          <a:solidFill>
            <a:srgbClr val="FBB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965960"/>
            <a:ext cx="2139696" cy="685800"/>
          </a:xfrm>
          <a:prstGeom prst="rect">
            <a:avLst/>
          </a:prstGeom>
          <a:noFill/>
        </p:spPr>
        <p:txBody>
          <a:bodyPr wrap="square" lIns="0" tIns="0" rIns="0" bIns="0">
            <a:spAutoFit/>
          </a:bodyPr>
          <a:lstStyle/>
          <a:p>
            <a:pPr>
              <a:defRPr sz="900" b="1">
                <a:solidFill>
                  <a:srgbClr val="FBBF24"/>
                </a:solidFill>
                <a:latin typeface="Aptos"/>
              </a:defRPr>
            </a:pPr>
            <a:r>
              <a:t>PHASE 3 • HOURS 24-36</a:t>
            </a:r>
          </a:p>
          <a:p>
            <a:pPr>
              <a:spcBef>
                <a:spcPts val="300"/>
              </a:spcBef>
              <a:defRPr sz="1200" b="1">
                <a:solidFill>
                  <a:srgbClr val="F8FAFC"/>
                </a:solidFill>
                <a:latin typeface="Aptos"/>
              </a:defRPr>
            </a:pPr>
            <a:r>
              <a:t>Interactive UI &amp; Visuals</a:t>
            </a:r>
          </a:p>
        </p:txBody>
      </p:sp>
      <p:sp>
        <p:nvSpPr>
          <p:cNvPr id="18" name="TextBox 17"/>
          <p:cNvSpPr txBox="1"/>
          <p:nvPr/>
        </p:nvSpPr>
        <p:spPr>
          <a:xfrm>
            <a:off x="6400800" y="2788920"/>
            <a:ext cx="2139696" cy="2468880"/>
          </a:xfrm>
          <a:prstGeom prst="rect">
            <a:avLst/>
          </a:prstGeom>
          <a:noFill/>
        </p:spPr>
        <p:txBody>
          <a:bodyPr wrap="square" lIns="0" tIns="0" rIns="0" bIns="0">
            <a:spAutoFit/>
          </a:bodyPr>
          <a:lstStyle/>
          <a:p>
            <a:pPr>
              <a:spcBef>
                <a:spcPts val="0"/>
              </a:spcBef>
            </a:pPr>
            <a:r>
              <a:rPr sz="1000" b="1">
                <a:solidFill>
                  <a:srgbClr val="FBBF24"/>
                </a:solidFill>
                <a:latin typeface="Aptos"/>
              </a:rPr>
              <a:t>• </a:t>
            </a:r>
            <a:r>
              <a:rPr sz="950">
                <a:solidFill>
                  <a:srgbClr val="CBD5E1"/>
                </a:solidFill>
                <a:latin typeface="Aptos"/>
              </a:rPr>
              <a:t>Develop Streamlit analyst web dashboard</a:t>
            </a:r>
          </a:p>
          <a:p>
            <a:pPr>
              <a:spcBef>
                <a:spcPts val="800"/>
              </a:spcBef>
            </a:pPr>
            <a:r>
              <a:rPr sz="1000" b="1">
                <a:solidFill>
                  <a:srgbClr val="FBBF24"/>
                </a:solidFill>
                <a:latin typeface="Aptos"/>
              </a:rPr>
              <a:t>• </a:t>
            </a:r>
            <a:r>
              <a:rPr sz="950">
                <a:solidFill>
                  <a:srgbClr val="CBD5E1"/>
                </a:solidFill>
                <a:latin typeface="Aptos"/>
              </a:rPr>
              <a:t>Display live TinyFish browser trace logs</a:t>
            </a:r>
          </a:p>
          <a:p>
            <a:pPr>
              <a:spcBef>
                <a:spcPts val="800"/>
              </a:spcBef>
            </a:pPr>
            <a:r>
              <a:rPr sz="1000" b="1">
                <a:solidFill>
                  <a:srgbClr val="FBBF24"/>
                </a:solidFill>
                <a:latin typeface="Aptos"/>
              </a:rPr>
              <a:t>• </a:t>
            </a:r>
            <a:r>
              <a:rPr sz="950">
                <a:solidFill>
                  <a:srgbClr val="CBD5E1"/>
                </a:solidFill>
                <a:latin typeface="Aptos"/>
              </a:rPr>
              <a:t>Render interactive Plotly CAR chart</a:t>
            </a:r>
          </a:p>
          <a:p>
            <a:pPr>
              <a:spcBef>
                <a:spcPts val="800"/>
              </a:spcBef>
            </a:pPr>
            <a:r>
              <a:rPr sz="1000" b="1">
                <a:solidFill>
                  <a:srgbClr val="FBBF24"/>
                </a:solidFill>
                <a:latin typeface="Aptos"/>
              </a:rPr>
              <a:t>• </a:t>
            </a:r>
            <a:r>
              <a:rPr sz="950">
                <a:solidFill>
                  <a:srgbClr val="CBD5E1"/>
                </a:solidFill>
                <a:latin typeface="Aptos"/>
              </a:rPr>
              <a:t>Add downloadable research brief exporter</a:t>
            </a:r>
          </a:p>
        </p:txBody>
      </p:sp>
      <p:sp>
        <p:nvSpPr>
          <p:cNvPr id="19" name="Rounded Rectangle 18"/>
          <p:cNvSpPr/>
          <p:nvPr/>
        </p:nvSpPr>
        <p:spPr>
          <a:xfrm>
            <a:off x="8988552" y="1783080"/>
            <a:ext cx="2468880" cy="3657600"/>
          </a:xfrm>
          <a:prstGeom prst="roundRect">
            <a:avLst/>
          </a:prstGeom>
          <a:solidFill>
            <a:srgbClr val="131F37"/>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34272" y="1783080"/>
            <a:ext cx="2377440" cy="54864"/>
          </a:xfrm>
          <a:prstGeom prst="rect">
            <a:avLst/>
          </a:prstGeom>
          <a:solidFill>
            <a:srgbClr val="60A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53144" y="1965960"/>
            <a:ext cx="2139696" cy="685800"/>
          </a:xfrm>
          <a:prstGeom prst="rect">
            <a:avLst/>
          </a:prstGeom>
          <a:noFill/>
        </p:spPr>
        <p:txBody>
          <a:bodyPr wrap="square" lIns="0" tIns="0" rIns="0" bIns="0">
            <a:spAutoFit/>
          </a:bodyPr>
          <a:lstStyle/>
          <a:p>
            <a:pPr>
              <a:defRPr sz="900" b="1">
                <a:solidFill>
                  <a:srgbClr val="60A5FA"/>
                </a:solidFill>
                <a:latin typeface="Aptos"/>
              </a:defRPr>
            </a:pPr>
            <a:r>
              <a:t>PHASE 4 • HOURS 36-48</a:t>
            </a:r>
          </a:p>
          <a:p>
            <a:pPr>
              <a:spcBef>
                <a:spcPts val="300"/>
              </a:spcBef>
              <a:defRPr sz="1200" b="1">
                <a:solidFill>
                  <a:srgbClr val="F8FAFC"/>
                </a:solidFill>
                <a:latin typeface="Aptos"/>
              </a:defRPr>
            </a:pPr>
            <a:r>
              <a:t>Demo Polish &amp; Pitch</a:t>
            </a:r>
          </a:p>
        </p:txBody>
      </p:sp>
      <p:sp>
        <p:nvSpPr>
          <p:cNvPr id="22" name="TextBox 21"/>
          <p:cNvSpPr txBox="1"/>
          <p:nvPr/>
        </p:nvSpPr>
        <p:spPr>
          <a:xfrm>
            <a:off x="9153144" y="2788920"/>
            <a:ext cx="2139696" cy="2468880"/>
          </a:xfrm>
          <a:prstGeom prst="rect">
            <a:avLst/>
          </a:prstGeom>
          <a:noFill/>
        </p:spPr>
        <p:txBody>
          <a:bodyPr wrap="square" lIns="0" tIns="0" rIns="0" bIns="0">
            <a:spAutoFit/>
          </a:bodyPr>
          <a:lstStyle/>
          <a:p>
            <a:pPr>
              <a:spcBef>
                <a:spcPts val="0"/>
              </a:spcBef>
            </a:pPr>
            <a:r>
              <a:rPr sz="1000" b="1">
                <a:solidFill>
                  <a:srgbClr val="60A5FA"/>
                </a:solidFill>
                <a:latin typeface="Aptos"/>
              </a:rPr>
              <a:t>• </a:t>
            </a:r>
            <a:r>
              <a:rPr sz="950">
                <a:solidFill>
                  <a:srgbClr val="CBD5E1"/>
                </a:solidFill>
                <a:latin typeface="Aptos"/>
              </a:rPr>
              <a:t>End-to-end edge case stress testing</a:t>
            </a:r>
          </a:p>
          <a:p>
            <a:pPr>
              <a:spcBef>
                <a:spcPts val="800"/>
              </a:spcBef>
            </a:pPr>
            <a:r>
              <a:rPr sz="1000" b="1">
                <a:solidFill>
                  <a:srgbClr val="60A5FA"/>
                </a:solidFill>
                <a:latin typeface="Aptos"/>
              </a:rPr>
              <a:t>• </a:t>
            </a:r>
            <a:r>
              <a:rPr sz="950">
                <a:solidFill>
                  <a:srgbClr val="CBD5E1"/>
                </a:solidFill>
                <a:latin typeface="Aptos"/>
              </a:rPr>
              <a:t>Test regulatory dockets (SEC &amp; FDA)</a:t>
            </a:r>
          </a:p>
          <a:p>
            <a:pPr>
              <a:spcBef>
                <a:spcPts val="800"/>
              </a:spcBef>
            </a:pPr>
            <a:r>
              <a:rPr sz="1000" b="1">
                <a:solidFill>
                  <a:srgbClr val="60A5FA"/>
                </a:solidFill>
                <a:latin typeface="Aptos"/>
              </a:rPr>
              <a:t>• </a:t>
            </a:r>
            <a:r>
              <a:rPr sz="950">
                <a:solidFill>
                  <a:srgbClr val="CBD5E1"/>
                </a:solidFill>
                <a:latin typeface="Aptos"/>
              </a:rPr>
              <a:t>Record 3-minute video pitch &amp; demo</a:t>
            </a:r>
          </a:p>
          <a:p>
            <a:pPr>
              <a:spcBef>
                <a:spcPts val="800"/>
              </a:spcBef>
            </a:pPr>
            <a:r>
              <a:rPr sz="1000" b="1">
                <a:solidFill>
                  <a:srgbClr val="60A5FA"/>
                </a:solidFill>
                <a:latin typeface="Aptos"/>
              </a:rPr>
              <a:t>• </a:t>
            </a:r>
            <a:r>
              <a:rPr sz="950">
                <a:solidFill>
                  <a:srgbClr val="CBD5E1"/>
                </a:solidFill>
                <a:latin typeface="Aptos"/>
              </a:rPr>
              <a:t>Prepare submission for TinyFish Accelerator</a:t>
            </a:r>
          </a:p>
        </p:txBody>
      </p:sp>
      <p:sp>
        <p:nvSpPr>
          <p:cNvPr id="23" name="Rounded Rectangle 22"/>
          <p:cNvSpPr/>
          <p:nvPr/>
        </p:nvSpPr>
        <p:spPr>
          <a:xfrm>
            <a:off x="731520" y="5623560"/>
            <a:ext cx="10728655" cy="731520"/>
          </a:xfrm>
          <a:prstGeom prst="roundRect">
            <a:avLst/>
          </a:prstGeom>
          <a:solidFill>
            <a:srgbClr val="182744"/>
          </a:solidFill>
          <a:ln w="12700">
            <a:solidFill>
              <a:srgbClr val="2338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1520" y="5669280"/>
            <a:ext cx="73152" cy="640080"/>
          </a:xfrm>
          <a:prstGeom prst="rect">
            <a:avLst/>
          </a:prstGeom>
          <a:solidFill>
            <a:srgbClr val="26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 y="5715000"/>
            <a:ext cx="10241280" cy="548640"/>
          </a:xfrm>
          <a:prstGeom prst="rect">
            <a:avLst/>
          </a:prstGeom>
          <a:noFill/>
        </p:spPr>
        <p:txBody>
          <a:bodyPr wrap="square" lIns="0" tIns="0" rIns="0" bIns="0">
            <a:spAutoFit/>
          </a:bodyPr>
          <a:lstStyle/>
          <a:p>
            <a:r>
              <a:rPr sz="1050" b="1">
                <a:solidFill>
                  <a:srgbClr val="26E5E8"/>
                </a:solidFill>
                <a:latin typeface="Aptos"/>
              </a:rPr>
              <a:t>POST-HACKATHON ACCELERATOR TRAJECTORY: </a:t>
            </a:r>
            <a:r>
              <a:rPr sz="1000">
                <a:solidFill>
                  <a:srgbClr val="CBD5E1"/>
                </a:solidFill>
                <a:latin typeface="Aptos"/>
              </a:rPr>
              <a:t>Our goal is the TinyFish $2M Pre-Accelerator Golden Ticket. Post-hackathon, we will commercialize QuantIntel as a B2B research copilot for boutique hedge funds, family offices, and equity analysts—monetized via tiered monthly subscriptions and TinyFish agent execution credits.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